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image" Target="../media/image-2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image" Target="../media/image-21-5.png"/><Relationship Id="rId6" Type="http://schemas.openxmlformats.org/officeDocument/2006/relationships/image" Target="../media/image-2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0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943600" cy="5943600"/>
          </a:xfrm>
          <a:prstGeom prst="ellipse">
            <a:avLst/>
          </a:prstGeom>
          <a:solidFill>
            <a:srgbClr val="F5576C">
              <a:alpha val="30000"/>
            </a:srgbClr>
          </a:solidFill>
          <a:ln w="12700">
            <a:solidFill>
              <a:srgbClr val="F5576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828800"/>
            <a:ext cx="5943600" cy="5943600"/>
          </a:xfrm>
          <a:prstGeom prst="ellipse">
            <a:avLst/>
          </a:prstGeom>
          <a:solidFill>
            <a:srgbClr val="8E2DE2">
              <a:alpha val="35000"/>
            </a:srgbClr>
          </a:solidFill>
          <a:ln w="12700">
            <a:solidFill>
              <a:srgbClr val="8E2DE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2743200"/>
            <a:ext cx="5029200" cy="5029200"/>
          </a:xfrm>
          <a:prstGeom prst="ellipse">
            <a:avLst/>
          </a:prstGeom>
          <a:solidFill>
            <a:srgbClr val="FF8C42">
              <a:alpha val="22000"/>
            </a:srgbClr>
          </a:solidFill>
          <a:ln w="12700">
            <a:solidFill>
              <a:srgbClr val="FF8C42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4114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F5576C"/>
          </a:solidFill>
          <a:ln w="12700">
            <a:solidFill>
              <a:srgbClr val="F5576C"/>
            </a:solidFill>
            <a:prstDash val="solid"/>
          </a:ln>
          <a:effectLst>
            <a:outerShdw sx="100000" sy="100000" kx="0" ky="0" algn="bl" rotWithShape="0" blurRad="279400" dist="50800" dir="5400000">
              <a:srgbClr val="F5576C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411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188720" y="502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App.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457200" y="21488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093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Life.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i="1" dirty="0">
                <a:solidFill>
                  <a:srgbClr val="FF8C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Endless Earnings.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457200" y="3794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all-in-one super-app and business operating system — social, travel, food, stays, jobs, and the software that runs them.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434840"/>
            <a:ext cx="3200400" cy="365760"/>
          </a:xfrm>
          <a:prstGeom prst="roundRect">
            <a:avLst>
              <a:gd name="adj" fmla="val 50000"/>
            </a:avLst>
          </a:prstGeom>
          <a:solidFill>
            <a:srgbClr val="F5576C"/>
          </a:solidFill>
          <a:ln w="12700">
            <a:solidFill>
              <a:srgbClr val="F5576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434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&amp; Partner Briefing  →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 •  Super-App Platform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95528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914400"/>
            <a:ext cx="3200400" cy="3200400"/>
          </a:xfrm>
          <a:prstGeom prst="ellipse">
            <a:avLst/>
          </a:prstGeom>
          <a:solidFill>
            <a:srgbClr val="F093FB">
              <a:alpha val="20000"/>
            </a:srgbClr>
          </a:solidFill>
          <a:ln w="12700">
            <a:solidFill>
              <a:srgbClr val="F093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840480"/>
            <a:ext cx="2743200" cy="2743200"/>
          </a:xfrm>
          <a:prstGeom prst="ellipse">
            <a:avLst/>
          </a:prstGeom>
          <a:solidFill>
            <a:srgbClr val="F5576C">
              <a:alpha val="15000"/>
            </a:srgbClr>
          </a:solidFill>
          <a:ln w="12700">
            <a:solidFill>
              <a:srgbClr val="F5576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5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2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Everyday life is scattered across 20+ apps.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juggle logins, payments, and identities. Businesses pay for half a dozen separate tools. Money leaves the local economy in fees.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240487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22860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1874520" y="228600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248" y="240487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331720" y="22860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video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3291840" y="228600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2404872"/>
            <a:ext cx="310896" cy="31089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749040" y="22860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Messaging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4709160" y="228600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8888" y="2404872"/>
            <a:ext cx="310896" cy="310896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166360" y="22860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126480" y="228600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6208" y="2404872"/>
            <a:ext cx="310896" cy="310896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583680" y="22860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7543800" y="228600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3528" y="2404872"/>
            <a:ext cx="310896" cy="31089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001000" y="22860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457200" y="297180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pic>
        <p:nvPicPr>
          <p:cNvPr id="2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6928" y="3090672"/>
            <a:ext cx="310896" cy="310896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914400" y="29718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</a:t>
            </a:r>
            <a:endParaRPr lang="en-US" sz="1100" dirty="0"/>
          </a:p>
        </p:txBody>
      </p:sp>
      <p:sp>
        <p:nvSpPr>
          <p:cNvPr id="28" name="Shape 19"/>
          <p:cNvSpPr/>
          <p:nvPr/>
        </p:nvSpPr>
        <p:spPr>
          <a:xfrm>
            <a:off x="1874520" y="297180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984248" y="3090672"/>
            <a:ext cx="310896" cy="310896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2331720" y="29718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Cars</a:t>
            </a:r>
            <a:endParaRPr lang="en-US" sz="1100" dirty="0"/>
          </a:p>
        </p:txBody>
      </p:sp>
      <p:sp>
        <p:nvSpPr>
          <p:cNvPr id="31" name="Shape 21"/>
          <p:cNvSpPr/>
          <p:nvPr/>
        </p:nvSpPr>
        <p:spPr>
          <a:xfrm>
            <a:off x="3291840" y="297180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01568" y="3090672"/>
            <a:ext cx="310896" cy="310896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3749040" y="29718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</a:t>
            </a:r>
            <a:endParaRPr lang="en-US" sz="1100" dirty="0"/>
          </a:p>
        </p:txBody>
      </p:sp>
      <p:sp>
        <p:nvSpPr>
          <p:cNvPr id="34" name="Shape 23"/>
          <p:cNvSpPr/>
          <p:nvPr/>
        </p:nvSpPr>
        <p:spPr>
          <a:xfrm>
            <a:off x="4709160" y="297180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pic>
        <p:nvPicPr>
          <p:cNvPr id="3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18888" y="3090672"/>
            <a:ext cx="310896" cy="310896"/>
          </a:xfrm>
          <a:prstGeom prst="rect">
            <a:avLst/>
          </a:prstGeom>
        </p:spPr>
      </p:pic>
      <p:sp>
        <p:nvSpPr>
          <p:cNvPr id="36" name="Text 24"/>
          <p:cNvSpPr/>
          <p:nvPr/>
        </p:nvSpPr>
        <p:spPr>
          <a:xfrm>
            <a:off x="5166360" y="29718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</a:t>
            </a:r>
            <a:endParaRPr lang="en-US" sz="1100" dirty="0"/>
          </a:p>
        </p:txBody>
      </p:sp>
      <p:sp>
        <p:nvSpPr>
          <p:cNvPr id="37" name="Shape 25"/>
          <p:cNvSpPr/>
          <p:nvPr/>
        </p:nvSpPr>
        <p:spPr>
          <a:xfrm>
            <a:off x="6126480" y="297180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pic>
        <p:nvPicPr>
          <p:cNvPr id="3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36208" y="3090672"/>
            <a:ext cx="310896" cy="310896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6583680" y="29718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</a:t>
            </a:r>
            <a:endParaRPr lang="en-US" sz="1100" dirty="0"/>
          </a:p>
        </p:txBody>
      </p:sp>
      <p:sp>
        <p:nvSpPr>
          <p:cNvPr id="40" name="Shape 27"/>
          <p:cNvSpPr/>
          <p:nvPr/>
        </p:nvSpPr>
        <p:spPr>
          <a:xfrm>
            <a:off x="7543800" y="2971800"/>
            <a:ext cx="1371600" cy="5486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pic>
        <p:nvPicPr>
          <p:cNvPr id="4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653528" y="3090672"/>
            <a:ext cx="310896" cy="310896"/>
          </a:xfrm>
          <a:prstGeom prst="rect">
            <a:avLst/>
          </a:prstGeom>
        </p:spPr>
      </p:pic>
      <p:sp>
        <p:nvSpPr>
          <p:cNvPr id="42" name="Text 28"/>
          <p:cNvSpPr/>
          <p:nvPr/>
        </p:nvSpPr>
        <p:spPr>
          <a:xfrm>
            <a:off x="8001000" y="297180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</a:t>
            </a:r>
            <a:endParaRPr lang="en-US" sz="1100" dirty="0"/>
          </a:p>
        </p:txBody>
      </p:sp>
      <p:sp>
        <p:nvSpPr>
          <p:cNvPr id="43" name="Shape 29"/>
          <p:cNvSpPr/>
          <p:nvPr/>
        </p:nvSpPr>
        <p:spPr>
          <a:xfrm>
            <a:off x="457200" y="4160520"/>
            <a:ext cx="8229600" cy="502920"/>
          </a:xfrm>
          <a:prstGeom prst="roundRect">
            <a:avLst>
              <a:gd name="adj" fmla="val 21818"/>
            </a:avLst>
          </a:prstGeom>
          <a:solidFill>
            <a:srgbClr val="120A2A"/>
          </a:solidFill>
          <a:ln w="12700">
            <a:solidFill>
              <a:srgbClr val="120A2A"/>
            </a:solidFill>
            <a:prstDash val="solid"/>
          </a:ln>
        </p:spPr>
      </p:sp>
      <p:sp>
        <p:nvSpPr>
          <p:cNvPr id="44" name="Text 30"/>
          <p:cNvSpPr/>
          <p:nvPr/>
        </p:nvSpPr>
        <p:spPr>
          <a:xfrm>
            <a:off x="640080" y="416052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9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time, broken experiences, and lost revenue every single day.</a:t>
            </a:r>
            <a:endParaRPr lang="en-US" sz="1300" dirty="0"/>
          </a:p>
        </p:txBody>
      </p:sp>
      <p:sp>
        <p:nvSpPr>
          <p:cNvPr id="45" name="Text 31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 •  Super-App Platform</a:t>
            </a:r>
            <a:endParaRPr lang="en-US" sz="900" dirty="0"/>
          </a:p>
        </p:txBody>
      </p:sp>
      <p:sp>
        <p:nvSpPr>
          <p:cNvPr id="46" name="Text 32"/>
          <p:cNvSpPr/>
          <p:nvPr/>
        </p:nvSpPr>
        <p:spPr>
          <a:xfrm>
            <a:off x="795528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20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943600" cy="5943600"/>
          </a:xfrm>
          <a:prstGeom prst="ellipse">
            <a:avLst/>
          </a:prstGeom>
          <a:solidFill>
            <a:srgbClr val="F5576C">
              <a:alpha val="30000"/>
            </a:srgbClr>
          </a:solidFill>
          <a:ln w="12700">
            <a:solidFill>
              <a:srgbClr val="F5576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828800"/>
            <a:ext cx="5943600" cy="5943600"/>
          </a:xfrm>
          <a:prstGeom prst="ellipse">
            <a:avLst/>
          </a:prstGeom>
          <a:solidFill>
            <a:srgbClr val="8E2DE2">
              <a:alpha val="35000"/>
            </a:srgbClr>
          </a:solidFill>
          <a:ln w="12700">
            <a:solidFill>
              <a:srgbClr val="8E2DE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2743200"/>
            <a:ext cx="5029200" cy="5029200"/>
          </a:xfrm>
          <a:prstGeom prst="ellipse">
            <a:avLst/>
          </a:prstGeom>
          <a:solidFill>
            <a:srgbClr val="FF8C42">
              <a:alpha val="22000"/>
            </a:srgbClr>
          </a:solidFill>
          <a:ln w="12700">
            <a:solidFill>
              <a:srgbClr val="FF8C4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9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ZIVO is the super-app that replaces them all — plus the software that runs the businesses inside it.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2240280"/>
            <a:ext cx="1965960" cy="21031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240280"/>
            <a:ext cx="1965960" cy="73152"/>
          </a:xfrm>
          <a:prstGeom prst="rect">
            <a:avLst/>
          </a:prstGeom>
          <a:solidFill>
            <a:srgbClr val="F5576C"/>
          </a:solidFill>
          <a:ln w="12700">
            <a:solidFill>
              <a:srgbClr val="F5576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468880"/>
            <a:ext cx="548640" cy="548640"/>
          </a:xfrm>
          <a:prstGeom prst="ellipse">
            <a:avLst/>
          </a:prstGeom>
          <a:solidFill>
            <a:srgbClr val="F5576C">
              <a:alpha val="15000"/>
            </a:srgbClr>
          </a:solidFill>
          <a:ln w="12700">
            <a:solidFill>
              <a:srgbClr val="F5576C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56032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3108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2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85800" y="35204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Feed, reels, chat, channels, fan subscriptions.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514600" y="2240280"/>
            <a:ext cx="1965960" cy="21031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14600" y="2240280"/>
            <a:ext cx="1965960" cy="7315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743200" y="2468880"/>
            <a:ext cx="548640" cy="548640"/>
          </a:xfrm>
          <a:prstGeom prst="ellipse">
            <a:avLst/>
          </a:prstGeom>
          <a:solidFill>
            <a:srgbClr val="FF8C42">
              <a:alpha val="15000"/>
            </a:srgbClr>
          </a:solidFill>
          <a:ln w="12700">
            <a:solidFill>
              <a:srgbClr val="FF8C42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2560320"/>
            <a:ext cx="365760" cy="36576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743200" y="3108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2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Move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2743200" y="35204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Rides, food delivery, flights, car rentals.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572000" y="2240280"/>
            <a:ext cx="1965960" cy="21031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572000" y="2240280"/>
            <a:ext cx="1965960" cy="73152"/>
          </a:xfrm>
          <a:prstGeom prst="rect">
            <a:avLst/>
          </a:prstGeom>
          <a:solidFill>
            <a:srgbClr val="F093FB"/>
          </a:solidFill>
          <a:ln w="12700">
            <a:solidFill>
              <a:srgbClr val="F093FB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800600" y="2468880"/>
            <a:ext cx="548640" cy="548640"/>
          </a:xfrm>
          <a:prstGeom prst="ellipse">
            <a:avLst/>
          </a:prstGeom>
          <a:solidFill>
            <a:srgbClr val="F093FB">
              <a:alpha val="15000"/>
            </a:srgbClr>
          </a:solidFill>
          <a:ln w="12700">
            <a:solidFill>
              <a:srgbClr val="F093FB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56032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800600" y="3108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2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4800600" y="35204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Hotels, resorts, guesthouses, short-term stays.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629400" y="2240280"/>
            <a:ext cx="1965960" cy="210312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629400" y="2240280"/>
            <a:ext cx="1965960" cy="73152"/>
          </a:xfrm>
          <a:prstGeom prst="rect">
            <a:avLst/>
          </a:prstGeom>
          <a:solidFill>
            <a:srgbClr val="8E2DE2"/>
          </a:solidFill>
          <a:ln w="12700">
            <a:solidFill>
              <a:srgbClr val="8E2DE2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6858000" y="2468880"/>
            <a:ext cx="548640" cy="548640"/>
          </a:xfrm>
          <a:prstGeom prst="ellipse">
            <a:avLst/>
          </a:prstGeom>
          <a:solidFill>
            <a:srgbClr val="8E2DE2">
              <a:alpha val="15000"/>
            </a:srgbClr>
          </a:solidFill>
          <a:ln w="12700">
            <a:solidFill>
              <a:srgbClr val="8E2DE2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2560320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858000" y="310896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2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 &amp; Work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6858000" y="3520440"/>
            <a:ext cx="1600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POS, staff, payroll, jobs, hiring — all built-in.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 •  Super-App Platform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795528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914400"/>
            <a:ext cx="3200400" cy="3200400"/>
          </a:xfrm>
          <a:prstGeom prst="ellipse">
            <a:avLst/>
          </a:prstGeom>
          <a:solidFill>
            <a:srgbClr val="F093FB">
              <a:alpha val="20000"/>
            </a:srgbClr>
          </a:solidFill>
          <a:ln w="12700">
            <a:solidFill>
              <a:srgbClr val="F093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840480"/>
            <a:ext cx="2743200" cy="2743200"/>
          </a:xfrm>
          <a:prstGeom prst="ellipse">
            <a:avLst/>
          </a:prstGeom>
          <a:solidFill>
            <a:srgbClr val="F5576C">
              <a:alpha val="15000"/>
            </a:srgbClr>
          </a:solidFill>
          <a:ln w="12700">
            <a:solidFill>
              <a:srgbClr val="F5576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5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ECOSYSTEM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2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world-class apps. One ZIVO account.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ZIVO surface replaces a category leader — unified login, wallet, and identity across them all.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965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5740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2011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Social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34440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5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Facebook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40080" y="2743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in. Ready to use.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2514600" y="1828800"/>
            <a:ext cx="1965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80" y="205740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2011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Reels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291840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5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TikTok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2697480" y="2743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in. Ready to use.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4572000" y="1828800"/>
            <a:ext cx="1965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05740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349240" y="2011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Chat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5349240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5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Telegram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4754880" y="2743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in. Ready to use.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6629400" y="1828800"/>
            <a:ext cx="1965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2280" y="2057400"/>
            <a:ext cx="502920" cy="5029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06640" y="2011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Creators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7406640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5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OnlyFans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6812280" y="274320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in. Ready to use.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457200" y="3246120"/>
            <a:ext cx="1965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474720"/>
            <a:ext cx="502920" cy="5029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234440" y="3429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Rides</a:t>
            </a:r>
            <a:endParaRPr lang="en-US" sz="1400" dirty="0"/>
          </a:p>
        </p:txBody>
      </p:sp>
      <p:sp>
        <p:nvSpPr>
          <p:cNvPr id="30" name="Text 23"/>
          <p:cNvSpPr/>
          <p:nvPr/>
        </p:nvSpPr>
        <p:spPr>
          <a:xfrm>
            <a:off x="1234440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5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Uber</a:t>
            </a:r>
            <a:endParaRPr lang="en-US" sz="1000" dirty="0"/>
          </a:p>
        </p:txBody>
      </p:sp>
      <p:sp>
        <p:nvSpPr>
          <p:cNvPr id="31" name="Text 24"/>
          <p:cNvSpPr/>
          <p:nvPr/>
        </p:nvSpPr>
        <p:spPr>
          <a:xfrm>
            <a:off x="640080" y="4160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in. Ready to use.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2514600" y="3246120"/>
            <a:ext cx="1965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697480" y="3474720"/>
            <a:ext cx="502920" cy="5029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3291840" y="3429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Eats</a:t>
            </a:r>
            <a:endParaRPr lang="en-US" sz="1400" dirty="0"/>
          </a:p>
        </p:txBody>
      </p:sp>
      <p:sp>
        <p:nvSpPr>
          <p:cNvPr id="35" name="Text 27"/>
          <p:cNvSpPr/>
          <p:nvPr/>
        </p:nvSpPr>
        <p:spPr>
          <a:xfrm>
            <a:off x="3291840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5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Uber Eats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2697480" y="4160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in. Ready to use.</a:t>
            </a:r>
            <a:endParaRPr lang="en-US" sz="900" dirty="0"/>
          </a:p>
        </p:txBody>
      </p:sp>
      <p:sp>
        <p:nvSpPr>
          <p:cNvPr id="37" name="Shape 29"/>
          <p:cNvSpPr/>
          <p:nvPr/>
        </p:nvSpPr>
        <p:spPr>
          <a:xfrm>
            <a:off x="4572000" y="3246120"/>
            <a:ext cx="1965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3474720"/>
            <a:ext cx="502920" cy="50292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5349240" y="3429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Drive</a:t>
            </a:r>
            <a:endParaRPr lang="en-US" sz="1400" dirty="0"/>
          </a:p>
        </p:txBody>
      </p:sp>
      <p:sp>
        <p:nvSpPr>
          <p:cNvPr id="40" name="Text 31"/>
          <p:cNvSpPr/>
          <p:nvPr/>
        </p:nvSpPr>
        <p:spPr>
          <a:xfrm>
            <a:off x="5349240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5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Turo</a:t>
            </a:r>
            <a:endParaRPr lang="en-US" sz="1000" dirty="0"/>
          </a:p>
        </p:txBody>
      </p:sp>
      <p:sp>
        <p:nvSpPr>
          <p:cNvPr id="41" name="Text 32"/>
          <p:cNvSpPr/>
          <p:nvPr/>
        </p:nvSpPr>
        <p:spPr>
          <a:xfrm>
            <a:off x="4754880" y="4160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in. Ready to use.</a:t>
            </a:r>
            <a:endParaRPr lang="en-US" sz="900" dirty="0"/>
          </a:p>
        </p:txBody>
      </p:sp>
      <p:sp>
        <p:nvSpPr>
          <p:cNvPr id="42" name="Shape 33"/>
          <p:cNvSpPr/>
          <p:nvPr/>
        </p:nvSpPr>
        <p:spPr>
          <a:xfrm>
            <a:off x="6629400" y="3246120"/>
            <a:ext cx="196596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12280" y="3474720"/>
            <a:ext cx="502920" cy="50292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7406640" y="34290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Stay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7406640" y="37947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5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Airbnb / Booking</a:t>
            </a:r>
            <a:endParaRPr lang="en-US" sz="1000" dirty="0"/>
          </a:p>
        </p:txBody>
      </p:sp>
      <p:sp>
        <p:nvSpPr>
          <p:cNvPr id="46" name="Text 36"/>
          <p:cNvSpPr/>
          <p:nvPr/>
        </p:nvSpPr>
        <p:spPr>
          <a:xfrm>
            <a:off x="6812280" y="41605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in. Ready to use.</a:t>
            </a:r>
            <a:endParaRPr lang="en-US" sz="900" dirty="0"/>
          </a:p>
        </p:txBody>
      </p:sp>
      <p:sp>
        <p:nvSpPr>
          <p:cNvPr id="47" name="Text 37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 •  Super-App Platform</a:t>
            </a:r>
            <a:endParaRPr lang="en-US" sz="900" dirty="0"/>
          </a:p>
        </p:txBody>
      </p:sp>
      <p:sp>
        <p:nvSpPr>
          <p:cNvPr id="48" name="Text 38"/>
          <p:cNvSpPr/>
          <p:nvPr/>
        </p:nvSpPr>
        <p:spPr>
          <a:xfrm>
            <a:off x="795528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914400"/>
            <a:ext cx="3200400" cy="3200400"/>
          </a:xfrm>
          <a:prstGeom prst="ellipse">
            <a:avLst/>
          </a:prstGeom>
          <a:solidFill>
            <a:srgbClr val="F093FB">
              <a:alpha val="20000"/>
            </a:srgbClr>
          </a:solidFill>
          <a:ln w="12700">
            <a:solidFill>
              <a:srgbClr val="F093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840480"/>
            <a:ext cx="2743200" cy="2743200"/>
          </a:xfrm>
          <a:prstGeom prst="ellipse">
            <a:avLst/>
          </a:prstGeom>
          <a:solidFill>
            <a:srgbClr val="F5576C">
              <a:alpha val="15000"/>
            </a:srgbClr>
          </a:solidFill>
          <a:ln w="12700">
            <a:solidFill>
              <a:srgbClr val="F5576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5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01  •  CONNECT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2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ZIVO Social, Reels, Chat &amp; Creators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people scroll, watch, message, and pay creators — without leaving the app.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457200" cy="457200"/>
          </a:xfrm>
          <a:prstGeom prst="ellipse">
            <a:avLst/>
          </a:prstGeom>
          <a:solidFill>
            <a:srgbClr val="F5576C">
              <a:alpha val="15000"/>
            </a:srgbClr>
          </a:solidFill>
          <a:ln w="12700">
            <a:solidFill>
              <a:srgbClr val="F5576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901952"/>
            <a:ext cx="310896" cy="3108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8288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&amp; Stories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51560" y="207568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posts, stories, friends — the familiar Facebook-style feed.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2423160"/>
            <a:ext cx="457200" cy="457200"/>
          </a:xfrm>
          <a:prstGeom prst="ellipse">
            <a:avLst/>
          </a:prstGeom>
          <a:solidFill>
            <a:srgbClr val="F5576C">
              <a:alpha val="15000"/>
            </a:srgbClr>
          </a:solidFill>
          <a:ln w="12700">
            <a:solidFill>
              <a:srgbClr val="F5576C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2496312"/>
            <a:ext cx="310896" cy="31089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51560" y="2423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Reels &amp; Live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051560" y="267004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short video, live streams, smart Explore — TikTok-style discovery.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57200" y="3017520"/>
            <a:ext cx="457200" cy="457200"/>
          </a:xfrm>
          <a:prstGeom prst="ellipse">
            <a:avLst/>
          </a:prstGeom>
          <a:solidFill>
            <a:srgbClr val="F5576C">
              <a:alpha val="15000"/>
            </a:srgbClr>
          </a:solidFill>
          <a:ln w="12700">
            <a:solidFill>
              <a:srgbClr val="F5576C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09067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30175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&amp; Channels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051560" y="326440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1:1, groups, voice &amp; video calls, public channels — Telegram-style.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3611880"/>
            <a:ext cx="457200" cy="457200"/>
          </a:xfrm>
          <a:prstGeom prst="ellipse">
            <a:avLst/>
          </a:prstGeom>
          <a:solidFill>
            <a:srgbClr val="F5576C">
              <a:alpha val="15000"/>
            </a:srgbClr>
          </a:solidFill>
          <a:ln w="12700">
            <a:solidFill>
              <a:srgbClr val="F5576C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685032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5156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Subs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1051560" y="385876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subscriptions, tips, locked content, fan messaging — OnlyFans-style.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5212080" y="1783080"/>
            <a:ext cx="3474720" cy="2697480"/>
          </a:xfrm>
          <a:prstGeom prst="roundRect">
            <a:avLst>
              <a:gd name="adj" fmla="val 4068"/>
            </a:avLst>
          </a:prstGeom>
          <a:solidFill>
            <a:srgbClr val="120A2A"/>
          </a:solidFill>
          <a:ln w="12700">
            <a:solidFill>
              <a:srgbClr val="120A2A"/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5394960" y="19202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09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streaks. Real coins.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394960" y="2240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Gamified engagement turns daily use into rewards.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5394960" y="2788920"/>
            <a:ext cx="1005840" cy="1463040"/>
          </a:xfrm>
          <a:prstGeom prst="roundRect">
            <a:avLst>
              <a:gd name="adj" fmla="val 7273"/>
            </a:avLst>
          </a:prstGeom>
          <a:solidFill>
            <a:srgbClr val="1F1240"/>
          </a:solidFill>
          <a:ln w="12700">
            <a:solidFill>
              <a:srgbClr val="8E2DE2">
                <a:alpha val="30000"/>
              </a:srgbClr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5394960" y="28803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8C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+10</a:t>
            </a:r>
            <a:endParaRPr lang="en-US" sz="2800" dirty="0"/>
          </a:p>
        </p:txBody>
      </p:sp>
      <p:sp>
        <p:nvSpPr>
          <p:cNvPr id="28" name="Text 22"/>
          <p:cNvSpPr/>
          <p:nvPr/>
        </p:nvSpPr>
        <p:spPr>
          <a:xfrm>
            <a:off x="5394960" y="35204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coins / day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6492240" y="2788920"/>
            <a:ext cx="1005840" cy="1463040"/>
          </a:xfrm>
          <a:prstGeom prst="roundRect">
            <a:avLst>
              <a:gd name="adj" fmla="val 7273"/>
            </a:avLst>
          </a:prstGeom>
          <a:solidFill>
            <a:srgbClr val="1F1240"/>
          </a:solidFill>
          <a:ln w="12700">
            <a:solidFill>
              <a:srgbClr val="8E2DE2">
                <a:alpha val="30000"/>
              </a:srgbClr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6492240" y="28803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8C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800" dirty="0"/>
          </a:p>
        </p:txBody>
      </p:sp>
      <p:sp>
        <p:nvSpPr>
          <p:cNvPr id="31" name="Text 25"/>
          <p:cNvSpPr/>
          <p:nvPr/>
        </p:nvSpPr>
        <p:spPr>
          <a:xfrm>
            <a:off x="6492240" y="35204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challenges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7589520" y="2788920"/>
            <a:ext cx="1005840" cy="1463040"/>
          </a:xfrm>
          <a:prstGeom prst="roundRect">
            <a:avLst>
              <a:gd name="adj" fmla="val 7273"/>
            </a:avLst>
          </a:prstGeom>
          <a:solidFill>
            <a:srgbClr val="1F1240"/>
          </a:solidFill>
          <a:ln w="12700">
            <a:solidFill>
              <a:srgbClr val="8E2DE2">
                <a:alpha val="30000"/>
              </a:srgbClr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7589520" y="288036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8C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1×</a:t>
            </a:r>
            <a:endParaRPr lang="en-US" sz="2800" dirty="0"/>
          </a:p>
        </p:txBody>
      </p:sp>
      <p:sp>
        <p:nvSpPr>
          <p:cNvPr id="34" name="Text 28"/>
          <p:cNvSpPr/>
          <p:nvPr/>
        </p:nvSpPr>
        <p:spPr>
          <a:xfrm>
            <a:off x="7589520" y="35204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earns it all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 •  Super-App Platform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795528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914400"/>
            <a:ext cx="3200400" cy="3200400"/>
          </a:xfrm>
          <a:prstGeom prst="ellipse">
            <a:avLst/>
          </a:prstGeom>
          <a:solidFill>
            <a:srgbClr val="F093FB">
              <a:alpha val="20000"/>
            </a:srgbClr>
          </a:solidFill>
          <a:ln w="12700">
            <a:solidFill>
              <a:srgbClr val="F093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840480"/>
            <a:ext cx="2743200" cy="2743200"/>
          </a:xfrm>
          <a:prstGeom prst="ellipse">
            <a:avLst/>
          </a:prstGeom>
          <a:solidFill>
            <a:srgbClr val="F5576C">
              <a:alpha val="15000"/>
            </a:srgbClr>
          </a:solidFill>
          <a:ln w="12700">
            <a:solidFill>
              <a:srgbClr val="F5576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5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02  •  MOVE &amp; STAY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2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Rides, Eats, Flights, Cars, Hotels — all in one tap.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coffee around the corner to a beach resort across the country — ZIVO books, pays, and tracks it.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828800"/>
            <a:ext cx="73152" cy="114300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10312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19933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Rides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325880" y="23317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Ride-hailing, live map, saved places, fare splits.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23260" y="182880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23260" y="1828800"/>
            <a:ext cx="73152" cy="1143000"/>
          </a:xfrm>
          <a:prstGeom prst="rect">
            <a:avLst/>
          </a:prstGeom>
          <a:solidFill>
            <a:srgbClr val="F5576C"/>
          </a:solidFill>
          <a:ln w="12700">
            <a:solidFill>
              <a:srgbClr val="F5576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1860" y="210312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91940" y="19933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Eats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4091940" y="23317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food delivery, table reserve, lunch deals.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5989320" y="182880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989320" y="1828800"/>
            <a:ext cx="73152" cy="1143000"/>
          </a:xfrm>
          <a:prstGeom prst="rect">
            <a:avLst/>
          </a:prstGeom>
          <a:solidFill>
            <a:srgbClr val="8E2DE2"/>
          </a:solidFill>
          <a:ln w="12700">
            <a:solidFill>
              <a:srgbClr val="8E2DE2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10312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58000" y="199339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Flights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858000" y="233172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 airlines, secure issuance via licensed partners.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57200" y="310896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57200" y="3108960"/>
            <a:ext cx="73152" cy="11430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383280"/>
            <a:ext cx="502920" cy="5029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25880" y="32735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Drive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1325880" y="36118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Peer-to-peer car rentals — list your car, earn.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3223260" y="310896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223260" y="3108960"/>
            <a:ext cx="73152" cy="1143000"/>
          </a:xfrm>
          <a:prstGeom prst="rect">
            <a:avLst/>
          </a:prstGeom>
          <a:solidFill>
            <a:srgbClr val="F093FB"/>
          </a:solidFill>
          <a:ln w="12700">
            <a:solidFill>
              <a:srgbClr val="F093FB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51860" y="3383280"/>
            <a:ext cx="502920" cy="5029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091940" y="32735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Stay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4091940" y="36118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Hotels, resorts, guesthouses — hosts onboard free.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5989320" y="310896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5989320" y="3108960"/>
            <a:ext cx="73152" cy="114300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383280"/>
            <a:ext cx="502920" cy="50292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858000" y="3273552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Booking</a:t>
            </a:r>
            <a:endParaRPr lang="en-US" sz="1400" dirty="0"/>
          </a:p>
        </p:txBody>
      </p:sp>
      <p:sp>
        <p:nvSpPr>
          <p:cNvPr id="36" name="Text 28"/>
          <p:cNvSpPr/>
          <p:nvPr/>
        </p:nvSpPr>
        <p:spPr>
          <a:xfrm>
            <a:off x="6858000" y="361188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search: "pizza near me", "JFK to LAX".</a:t>
            </a:r>
            <a:endParaRPr lang="en-US" sz="1050" dirty="0"/>
          </a:p>
        </p:txBody>
      </p:sp>
      <p:sp>
        <p:nvSpPr>
          <p:cNvPr id="37" name="Shape 29"/>
          <p:cNvSpPr/>
          <p:nvPr/>
        </p:nvSpPr>
        <p:spPr>
          <a:xfrm>
            <a:off x="457200" y="4370832"/>
            <a:ext cx="8229600" cy="365760"/>
          </a:xfrm>
          <a:prstGeom prst="roundRect">
            <a:avLst>
              <a:gd name="adj" fmla="val 50000"/>
            </a:avLst>
          </a:prstGeom>
          <a:solidFill>
            <a:srgbClr val="F5576C"/>
          </a:solidFill>
          <a:ln w="12700">
            <a:solidFill>
              <a:srgbClr val="F5576C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457200" y="43708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wallet pays everywhere. One profile is recognized everywhere.</a:t>
            </a:r>
            <a:endParaRPr lang="en-US" sz="1200" dirty="0"/>
          </a:p>
        </p:txBody>
      </p:sp>
      <p:sp>
        <p:nvSpPr>
          <p:cNvPr id="39" name="Text 31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 •  Super-App Platform</a:t>
            </a:r>
            <a:endParaRPr lang="en-US" sz="900" dirty="0"/>
          </a:p>
        </p:txBody>
      </p:sp>
      <p:sp>
        <p:nvSpPr>
          <p:cNvPr id="40" name="Text 32"/>
          <p:cNvSpPr/>
          <p:nvPr/>
        </p:nvSpPr>
        <p:spPr>
          <a:xfrm>
            <a:off x="795528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0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943600" cy="5943600"/>
          </a:xfrm>
          <a:prstGeom prst="ellipse">
            <a:avLst/>
          </a:prstGeom>
          <a:solidFill>
            <a:srgbClr val="F5576C">
              <a:alpha val="30000"/>
            </a:srgbClr>
          </a:solidFill>
          <a:ln w="12700">
            <a:solidFill>
              <a:srgbClr val="F5576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828800"/>
            <a:ext cx="5943600" cy="5943600"/>
          </a:xfrm>
          <a:prstGeom prst="ellipse">
            <a:avLst/>
          </a:prstGeom>
          <a:solidFill>
            <a:srgbClr val="8E2DE2">
              <a:alpha val="35000"/>
            </a:srgbClr>
          </a:solidFill>
          <a:ln w="12700">
            <a:solidFill>
              <a:srgbClr val="8E2DE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2743200"/>
            <a:ext cx="5029200" cy="5029200"/>
          </a:xfrm>
          <a:prstGeom prst="ellipse">
            <a:avLst/>
          </a:prstGeom>
          <a:solidFill>
            <a:srgbClr val="FF8C42">
              <a:alpha val="22000"/>
            </a:srgbClr>
          </a:solidFill>
          <a:ln w="12700">
            <a:solidFill>
              <a:srgbClr val="FF8C4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9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03  •  ZIVO BUSINESS OS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software that runs the business inside the app.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Square, Shopify, Cloudbeds, Mindbody, Booksy, Toast — all from one ZIVO Merchant dashboard.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1965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97280" y="2286000"/>
            <a:ext cx="685800" cy="685800"/>
          </a:xfrm>
          <a:prstGeom prst="ellipse">
            <a:avLst/>
          </a:prstGeom>
          <a:solidFill>
            <a:srgbClr val="FF8C42">
              <a:alpha val="12000"/>
            </a:srgbClr>
          </a:solidFill>
          <a:ln w="12700">
            <a:solidFill>
              <a:srgbClr val="FF8C42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4440" y="242316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" y="30632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Repair Shops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40080" y="33832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Bookings, parts, invoices, mechanic scheduling.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514600" y="2057400"/>
            <a:ext cx="1965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54680" y="2286000"/>
            <a:ext cx="685800" cy="685800"/>
          </a:xfrm>
          <a:prstGeom prst="ellipse">
            <a:avLst/>
          </a:prstGeom>
          <a:solidFill>
            <a:srgbClr val="F093FB">
              <a:alpha val="12000"/>
            </a:srgbClr>
          </a:solidFill>
          <a:ln w="12700">
            <a:solidFill>
              <a:srgbClr val="F093FB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242316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651760" y="30632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Nail &amp; Beauty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697480" y="33832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Appointments, staff calendars, gift vouchers.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572000" y="2057400"/>
            <a:ext cx="1965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5212080" y="2286000"/>
            <a:ext cx="685800" cy="685800"/>
          </a:xfrm>
          <a:prstGeom prst="ellipse">
            <a:avLst/>
          </a:prstGeom>
          <a:solidFill>
            <a:srgbClr val="8E2DE2">
              <a:alpha val="12000"/>
            </a:srgbClr>
          </a:solidFill>
          <a:ln w="12700">
            <a:solidFill>
              <a:srgbClr val="8E2DE2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9240" y="2423160"/>
            <a:ext cx="411480" cy="4114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709160" y="30632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 &amp; Resorts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754880" y="33832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manager, dynamic pricing, guest folio.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629400" y="2057400"/>
            <a:ext cx="196596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269480" y="2286000"/>
            <a:ext cx="685800" cy="685800"/>
          </a:xfrm>
          <a:prstGeom prst="ellipse">
            <a:avLst/>
          </a:prstGeom>
          <a:solidFill>
            <a:srgbClr val="F5576C">
              <a:alpha val="12000"/>
            </a:srgbClr>
          </a:solidFill>
          <a:ln w="12700">
            <a:solidFill>
              <a:srgbClr val="F5576C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2423160"/>
            <a:ext cx="411480" cy="41148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766560" y="306324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 Restaurants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812280" y="3383280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POS, menu, promos, online + in-store sales.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09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bookings  •  invoices  •  reviews  •  channel manager  •  reports  •  marketing  •  live chat  •  shift handover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 •  Super-App Platform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795528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914400"/>
            <a:ext cx="3200400" cy="3200400"/>
          </a:xfrm>
          <a:prstGeom prst="ellipse">
            <a:avLst/>
          </a:prstGeom>
          <a:solidFill>
            <a:srgbClr val="F093FB">
              <a:alpha val="20000"/>
            </a:srgbClr>
          </a:solidFill>
          <a:ln w="12700">
            <a:solidFill>
              <a:srgbClr val="F093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840480"/>
            <a:ext cx="2743200" cy="2743200"/>
          </a:xfrm>
          <a:prstGeom prst="ellipse">
            <a:avLst/>
          </a:prstGeom>
          <a:solidFill>
            <a:srgbClr val="F5576C">
              <a:alpha val="15000"/>
            </a:srgbClr>
          </a:solidFill>
          <a:ln w="12700">
            <a:solidFill>
              <a:srgbClr val="F5576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5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PILLAR 04  •  WORK &amp; TEAMS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2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ZIVO Jobs and Employee Manager.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business needs people. Every person needs work. ZIVO connects both — inside the same app.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40233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4023360" cy="73152"/>
          </a:xfrm>
          <a:prstGeom prst="rect">
            <a:avLst/>
          </a:prstGeom>
          <a:solidFill>
            <a:srgbClr val="8E2DE2"/>
          </a:solidFill>
          <a:ln w="12700">
            <a:solidFill>
              <a:srgbClr val="8E2DE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05740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2057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E2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PEOPLE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32588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for jobs in seconds.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731520" y="278892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ID auto-fills your profile.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Driver, host, creator, or full-time — same app.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badge builds trust faster.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paid daily into your ZIVO Wallet.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663440" y="1783080"/>
            <a:ext cx="40233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1783080"/>
            <a:ext cx="4023360" cy="7315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2057400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532120" y="20574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BUSINESSES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5532120" y="2286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jobs. Run your team.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4937760" y="2788920"/>
            <a:ext cx="35661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jobs in 60 seconds.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shifts, attendance, handovers.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hotel staff, mechanics, drivers, stylists.</a:t>
            </a:r>
            <a:endParaRPr lang="en-US" sz="11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payroll from the same wallet.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 •  Super-App Platform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795528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914400"/>
            <a:ext cx="3200400" cy="3200400"/>
          </a:xfrm>
          <a:prstGeom prst="ellipse">
            <a:avLst/>
          </a:prstGeom>
          <a:solidFill>
            <a:srgbClr val="F093FB">
              <a:alpha val="20000"/>
            </a:srgbClr>
          </a:solidFill>
          <a:ln w="12700">
            <a:solidFill>
              <a:srgbClr val="F093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840480"/>
            <a:ext cx="2743200" cy="2743200"/>
          </a:xfrm>
          <a:prstGeom prst="ellipse">
            <a:avLst/>
          </a:prstGeom>
          <a:solidFill>
            <a:srgbClr val="F5576C">
              <a:alpha val="15000"/>
            </a:srgbClr>
          </a:solidFill>
          <a:ln w="12700">
            <a:solidFill>
              <a:srgbClr val="F5576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5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2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 user goes from sign-up to streak.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691640"/>
            <a:ext cx="1554480" cy="23774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60120" y="1874520"/>
            <a:ext cx="548640" cy="548640"/>
          </a:xfrm>
          <a:prstGeom prst="ellipse">
            <a:avLst/>
          </a:prstGeom>
          <a:solidFill>
            <a:srgbClr val="F5576C"/>
          </a:solidFill>
          <a:ln w="12700">
            <a:solidFill>
              <a:srgbClr val="F5576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60604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8640" y="3154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94360" y="3474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or phone. 18+ check.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9968" y="2788920"/>
            <a:ext cx="128016" cy="128016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2176272" y="1691640"/>
            <a:ext cx="1554480" cy="23774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679192" y="1874520"/>
            <a:ext cx="548640" cy="54864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2679192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912" y="260604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267712" y="3154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profile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2313432" y="3474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badge, daily streak begins.</a:t>
            </a:r>
            <a:endParaRPr lang="en-US" sz="10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40" y="2788920"/>
            <a:ext cx="128016" cy="128016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3895344" y="1691640"/>
            <a:ext cx="1554480" cy="23774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398264" y="1874520"/>
            <a:ext cx="548640" cy="548640"/>
          </a:xfrm>
          <a:prstGeom prst="ellipse">
            <a:avLst/>
          </a:prstGeom>
          <a:solidFill>
            <a:srgbClr val="F093FB"/>
          </a:solidFill>
          <a:ln w="12700">
            <a:solidFill>
              <a:srgbClr val="F093FB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4398264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3984" y="2606040"/>
            <a:ext cx="457200" cy="4572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3986784" y="3154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any service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4032504" y="3474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Ride, scroll, message, book a hotel.</a:t>
            </a:r>
            <a:endParaRPr lang="en-US" sz="1000" dirty="0"/>
          </a:p>
        </p:txBody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8112" y="2788920"/>
            <a:ext cx="128016" cy="128016"/>
          </a:xfrm>
          <a:prstGeom prst="rect">
            <a:avLst/>
          </a:prstGeom>
        </p:spPr>
      </p:pic>
      <p:sp>
        <p:nvSpPr>
          <p:cNvPr id="27" name="Shape 19"/>
          <p:cNvSpPr/>
          <p:nvPr/>
        </p:nvSpPr>
        <p:spPr>
          <a:xfrm>
            <a:off x="5614416" y="1691640"/>
            <a:ext cx="1554480" cy="23774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sp>
        <p:nvSpPr>
          <p:cNvPr id="28" name="Shape 20"/>
          <p:cNvSpPr/>
          <p:nvPr/>
        </p:nvSpPr>
        <p:spPr>
          <a:xfrm>
            <a:off x="6117336" y="1874520"/>
            <a:ext cx="548640" cy="548640"/>
          </a:xfrm>
          <a:prstGeom prst="ellipse">
            <a:avLst/>
          </a:prstGeom>
          <a:solidFill>
            <a:srgbClr val="8E2DE2"/>
          </a:solidFill>
          <a:ln w="12700">
            <a:solidFill>
              <a:srgbClr val="8E2DE2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6117336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63056" y="2606040"/>
            <a:ext cx="457200" cy="457200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5705856" y="3154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coins</a:t>
            </a:r>
            <a:endParaRPr lang="en-US" sz="1300" dirty="0"/>
          </a:p>
        </p:txBody>
      </p:sp>
      <p:sp>
        <p:nvSpPr>
          <p:cNvPr id="32" name="Text 23"/>
          <p:cNvSpPr/>
          <p:nvPr/>
        </p:nvSpPr>
        <p:spPr>
          <a:xfrm>
            <a:off x="5751576" y="3474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challenges → ZIVO Wallet.</a:t>
            </a:r>
            <a:endParaRPr lang="en-US" sz="1000" dirty="0"/>
          </a:p>
        </p:txBody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87184" y="2788920"/>
            <a:ext cx="128016" cy="128016"/>
          </a:xfrm>
          <a:prstGeom prst="rect">
            <a:avLst/>
          </a:prstGeom>
        </p:spPr>
      </p:pic>
      <p:sp>
        <p:nvSpPr>
          <p:cNvPr id="34" name="Shape 24"/>
          <p:cNvSpPr/>
          <p:nvPr/>
        </p:nvSpPr>
        <p:spPr>
          <a:xfrm>
            <a:off x="7333488" y="1691640"/>
            <a:ext cx="1554480" cy="23774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836408" y="1874520"/>
            <a:ext cx="548640" cy="54864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6" name="Text 26"/>
          <p:cNvSpPr/>
          <p:nvPr/>
        </p:nvSpPr>
        <p:spPr>
          <a:xfrm>
            <a:off x="7836408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82128" y="2606040"/>
            <a:ext cx="457200" cy="457200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7424928" y="3154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or cash out</a:t>
            </a:r>
            <a:endParaRPr lang="en-US" sz="1300" dirty="0"/>
          </a:p>
        </p:txBody>
      </p:sp>
      <p:sp>
        <p:nvSpPr>
          <p:cNvPr id="39" name="Text 28"/>
          <p:cNvSpPr/>
          <p:nvPr/>
        </p:nvSpPr>
        <p:spPr>
          <a:xfrm>
            <a:off x="7470648" y="3474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anywhere on ZIVO. Instant payout.</a:t>
            </a:r>
            <a:endParaRPr lang="en-US" sz="1000" dirty="0"/>
          </a:p>
        </p:txBody>
      </p:sp>
      <p:sp>
        <p:nvSpPr>
          <p:cNvPr id="40" name="Text 29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55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sign-up to first transaction: under 2 minutes.</a:t>
            </a:r>
            <a:endParaRPr lang="en-US" sz="1100" dirty="0"/>
          </a:p>
        </p:txBody>
      </p:sp>
      <p:sp>
        <p:nvSpPr>
          <p:cNvPr id="41" name="Text 30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 •  Super-App Platform</a:t>
            </a:r>
            <a:endParaRPr lang="en-US" sz="900" dirty="0"/>
          </a:p>
        </p:txBody>
      </p:sp>
      <p:sp>
        <p:nvSpPr>
          <p:cNvPr id="42" name="Text 31"/>
          <p:cNvSpPr/>
          <p:nvPr/>
        </p:nvSpPr>
        <p:spPr>
          <a:xfrm>
            <a:off x="795528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20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943600" cy="5943600"/>
          </a:xfrm>
          <a:prstGeom prst="ellipse">
            <a:avLst/>
          </a:prstGeom>
          <a:solidFill>
            <a:srgbClr val="F5576C">
              <a:alpha val="30000"/>
            </a:srgbClr>
          </a:solidFill>
          <a:ln w="12700">
            <a:solidFill>
              <a:srgbClr val="F5576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828800"/>
            <a:ext cx="5943600" cy="5943600"/>
          </a:xfrm>
          <a:prstGeom prst="ellipse">
            <a:avLst/>
          </a:prstGeom>
          <a:solidFill>
            <a:srgbClr val="8E2DE2">
              <a:alpha val="35000"/>
            </a:srgbClr>
          </a:solidFill>
          <a:ln w="12700">
            <a:solidFill>
              <a:srgbClr val="8E2DE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2743200"/>
            <a:ext cx="5029200" cy="5029200"/>
          </a:xfrm>
          <a:prstGeom prst="ellipse">
            <a:avLst/>
          </a:prstGeom>
          <a:solidFill>
            <a:srgbClr val="FF8C42">
              <a:alpha val="22000"/>
            </a:srgbClr>
          </a:solidFill>
          <a:ln w="12700">
            <a:solidFill>
              <a:srgbClr val="FF8C4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9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 business goes from onboard to growth.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554480" cy="23774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0120" y="1874520"/>
            <a:ext cx="548640" cy="548640"/>
          </a:xfrm>
          <a:prstGeom prst="ellipse">
            <a:avLst/>
          </a:prstGeom>
          <a:solidFill>
            <a:srgbClr val="F5576C"/>
          </a:solidFill>
          <a:ln w="12700">
            <a:solidFill>
              <a:srgbClr val="F557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60604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3154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94360" y="3474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Hotel, shop, driver, host — one form.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176272" y="1691640"/>
            <a:ext cx="1554480" cy="23774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679192" y="1874520"/>
            <a:ext cx="548640" cy="548640"/>
          </a:xfrm>
          <a:prstGeom prst="ellipse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79192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912" y="2606040"/>
            <a:ext cx="457200" cy="4572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267712" y="3154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2313432" y="3474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photos, menu, rooms, services.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3895344" y="1691640"/>
            <a:ext cx="1554480" cy="23774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398264" y="1874520"/>
            <a:ext cx="548640" cy="548640"/>
          </a:xfrm>
          <a:prstGeom prst="ellipse">
            <a:avLst/>
          </a:prstGeom>
          <a:solidFill>
            <a:srgbClr val="F093FB"/>
          </a:solidFill>
          <a:ln w="12700">
            <a:solidFill>
              <a:srgbClr val="F093FB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398264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3984" y="2606040"/>
            <a:ext cx="457200" cy="45720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3986784" y="3154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live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032504" y="3474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across ZIVO Stay / Eats / Rides.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614416" y="1691640"/>
            <a:ext cx="1554480" cy="23774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117336" y="1874520"/>
            <a:ext cx="548640" cy="548640"/>
          </a:xfrm>
          <a:prstGeom prst="ellipse">
            <a:avLst/>
          </a:prstGeom>
          <a:solidFill>
            <a:srgbClr val="8E2DE2"/>
          </a:solidFill>
          <a:ln w="12700">
            <a:solidFill>
              <a:srgbClr val="8E2DE2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117336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3056" y="2606040"/>
            <a:ext cx="457200" cy="45720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5705856" y="3154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ops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5751576" y="3474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POS, bookings, staff, dynamic pricing.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7333488" y="1691640"/>
            <a:ext cx="1554480" cy="23774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7836408" y="1874520"/>
            <a:ext cx="548640" cy="548640"/>
          </a:xfrm>
          <a:prstGeom prst="ellipse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7836408" y="18745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82128" y="2606040"/>
            <a:ext cx="457200" cy="45720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424928" y="31546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paid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7470648" y="3474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payouts, less fees, full reports.</a:t>
            </a:r>
            <a:endParaRPr lang="en-US" sz="1000" dirty="0"/>
          </a:p>
        </p:txBody>
      </p:sp>
      <p:sp>
        <p:nvSpPr>
          <p:cNvPr id="37" name="Text 30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 •  Super-App Platform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795528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914400"/>
            <a:ext cx="3200400" cy="3200400"/>
          </a:xfrm>
          <a:prstGeom prst="ellipse">
            <a:avLst/>
          </a:prstGeom>
          <a:solidFill>
            <a:srgbClr val="F093FB">
              <a:alpha val="20000"/>
            </a:srgbClr>
          </a:solidFill>
          <a:ln w="12700">
            <a:solidFill>
              <a:srgbClr val="F093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840480"/>
            <a:ext cx="2743200" cy="2743200"/>
          </a:xfrm>
          <a:prstGeom prst="ellipse">
            <a:avLst/>
          </a:prstGeom>
          <a:solidFill>
            <a:srgbClr val="F5576C">
              <a:alpha val="15000"/>
            </a:srgbClr>
          </a:solidFill>
          <a:ln w="12700">
            <a:solidFill>
              <a:srgbClr val="F5576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5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2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wallet. Every checkout. Anywhere.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for a ride, a meal, a hotel, a creator, or a hire — from the same balance, with one tap.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103120"/>
            <a:ext cx="16459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267712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22860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2651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/ bank 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methods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3200400" y="1874520"/>
            <a:ext cx="2743200" cy="1463040"/>
          </a:xfrm>
          <a:prstGeom prst="roundRect">
            <a:avLst>
              <a:gd name="adj" fmla="val 9375"/>
            </a:avLst>
          </a:prstGeom>
          <a:solidFill>
            <a:srgbClr val="120A2A"/>
          </a:solidFill>
          <a:ln w="12700">
            <a:solidFill>
              <a:srgbClr val="120A2A"/>
            </a:solidFill>
            <a:prstDash val="solid"/>
          </a:ln>
          <a:effectLst>
            <a:outerShdw sx="100000" sy="100000" kx="0" ky="0" algn="bl" rotWithShape="0" blurRad="279400" dist="50800" dir="5400000">
              <a:srgbClr val="F5576C">
                <a:alpha val="35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05740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31920" y="205740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Wallet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931920" y="2377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09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PCI-secure  •  multi-currency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3337560" y="2743200"/>
            <a:ext cx="566928" cy="502920"/>
          </a:xfrm>
          <a:prstGeom prst="roundRect">
            <a:avLst>
              <a:gd name="adj" fmla="val 14545"/>
            </a:avLst>
          </a:prstGeom>
          <a:solidFill>
            <a:srgbClr val="1F1240"/>
          </a:solidFill>
          <a:ln w="12700">
            <a:solidFill>
              <a:srgbClr val="8E2DE2">
                <a:alpha val="40000"/>
              </a:srgbClr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2816352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337560" y="301752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</a:t>
            </a:r>
            <a:endParaRPr lang="en-US" sz="700" dirty="0"/>
          </a:p>
        </p:txBody>
      </p:sp>
      <p:sp>
        <p:nvSpPr>
          <p:cNvPr id="18" name="Shape 13"/>
          <p:cNvSpPr/>
          <p:nvPr/>
        </p:nvSpPr>
        <p:spPr>
          <a:xfrm>
            <a:off x="3977640" y="2743200"/>
            <a:ext cx="566928" cy="502920"/>
          </a:xfrm>
          <a:prstGeom prst="roundRect">
            <a:avLst>
              <a:gd name="adj" fmla="val 14545"/>
            </a:avLst>
          </a:prstGeom>
          <a:solidFill>
            <a:srgbClr val="1F1240"/>
          </a:solidFill>
          <a:ln w="12700">
            <a:solidFill>
              <a:srgbClr val="8E2DE2">
                <a:alpha val="40000"/>
              </a:srgbClr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2816352"/>
            <a:ext cx="201168" cy="20116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977640" y="301752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 / scan</a:t>
            </a:r>
            <a:endParaRPr lang="en-US" sz="700" dirty="0"/>
          </a:p>
        </p:txBody>
      </p:sp>
      <p:sp>
        <p:nvSpPr>
          <p:cNvPr id="21" name="Shape 15"/>
          <p:cNvSpPr/>
          <p:nvPr/>
        </p:nvSpPr>
        <p:spPr>
          <a:xfrm>
            <a:off x="4617720" y="2743200"/>
            <a:ext cx="566928" cy="502920"/>
          </a:xfrm>
          <a:prstGeom prst="roundRect">
            <a:avLst>
              <a:gd name="adj" fmla="val 14545"/>
            </a:avLst>
          </a:prstGeom>
          <a:solidFill>
            <a:srgbClr val="1F1240"/>
          </a:solidFill>
          <a:ln w="12700">
            <a:solidFill>
              <a:srgbClr val="8E2DE2">
                <a:alpha val="40000"/>
              </a:srgbClr>
            </a:solidFill>
            <a:prstDash val="solid"/>
          </a:ln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2816352"/>
            <a:ext cx="201168" cy="2011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617720" y="301752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Coins</a:t>
            </a:r>
            <a:endParaRPr lang="en-US" sz="700" dirty="0"/>
          </a:p>
        </p:txBody>
      </p:sp>
      <p:sp>
        <p:nvSpPr>
          <p:cNvPr id="24" name="Shape 17"/>
          <p:cNvSpPr/>
          <p:nvPr/>
        </p:nvSpPr>
        <p:spPr>
          <a:xfrm>
            <a:off x="5257800" y="2743200"/>
            <a:ext cx="566928" cy="502920"/>
          </a:xfrm>
          <a:prstGeom prst="roundRect">
            <a:avLst>
              <a:gd name="adj" fmla="val 14545"/>
            </a:avLst>
          </a:prstGeom>
          <a:solidFill>
            <a:srgbClr val="1F1240"/>
          </a:solidFill>
          <a:ln w="12700">
            <a:solidFill>
              <a:srgbClr val="8E2DE2">
                <a:alpha val="40000"/>
              </a:srgbClr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2816352"/>
            <a:ext cx="201168" cy="20116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5257800" y="3017520"/>
            <a:ext cx="5669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3-D Secure</a:t>
            </a:r>
            <a:endParaRPr lang="en-US" sz="700" dirty="0"/>
          </a:p>
        </p:txBody>
      </p:sp>
      <p:sp>
        <p:nvSpPr>
          <p:cNvPr id="27" name="Shape 19"/>
          <p:cNvSpPr/>
          <p:nvPr/>
        </p:nvSpPr>
        <p:spPr>
          <a:xfrm>
            <a:off x="7040880" y="2103120"/>
            <a:ext cx="164592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60" y="2267712"/>
            <a:ext cx="411480" cy="41148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7680960" y="2286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service</a:t>
            </a:r>
            <a:endParaRPr lang="en-US" sz="1300" dirty="0"/>
          </a:p>
        </p:txBody>
      </p:sp>
      <p:sp>
        <p:nvSpPr>
          <p:cNvPr id="30" name="Text 21"/>
          <p:cNvSpPr/>
          <p:nvPr/>
        </p:nvSpPr>
        <p:spPr>
          <a:xfrm>
            <a:off x="7132320" y="26517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Rides, Eats, Stay,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Flights, Creators</a:t>
            </a:r>
            <a:endParaRPr lang="en-US" sz="900" dirty="0"/>
          </a:p>
        </p:txBody>
      </p:sp>
      <p:sp>
        <p:nvSpPr>
          <p:cNvPr id="31" name="Shape 22"/>
          <p:cNvSpPr/>
          <p:nvPr/>
        </p:nvSpPr>
        <p:spPr>
          <a:xfrm>
            <a:off x="2240280" y="2468880"/>
            <a:ext cx="777240" cy="274320"/>
          </a:xfrm>
          <a:prstGeom prst="chevron">
            <a:avLst/>
          </a:prstGeom>
          <a:solidFill>
            <a:srgbClr val="F5576C"/>
          </a:solidFill>
          <a:ln w="12700">
            <a:solidFill>
              <a:srgbClr val="F5576C"/>
            </a:solidFill>
            <a:prstDash val="solid"/>
          </a:ln>
        </p:spPr>
      </p:sp>
      <p:sp>
        <p:nvSpPr>
          <p:cNvPr id="32" name="Shape 23"/>
          <p:cNvSpPr/>
          <p:nvPr/>
        </p:nvSpPr>
        <p:spPr>
          <a:xfrm>
            <a:off x="6080760" y="2468880"/>
            <a:ext cx="777240" cy="274320"/>
          </a:xfrm>
          <a:prstGeom prst="chevron">
            <a:avLst/>
          </a:prstGeom>
          <a:solidFill>
            <a:srgbClr val="F5576C"/>
          </a:solidFill>
          <a:ln w="12700">
            <a:solidFill>
              <a:srgbClr val="F5576C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457200" y="370332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5576C">
                <a:alpha val="40000"/>
              </a:srgbClr>
            </a:solidFill>
            <a:prstDash val="solid"/>
          </a:ln>
        </p:spPr>
      </p:sp>
      <p:sp>
        <p:nvSpPr>
          <p:cNvPr id="34" name="Text 25"/>
          <p:cNvSpPr/>
          <p:nvPr/>
        </p:nvSpPr>
        <p:spPr>
          <a:xfrm>
            <a:off x="640080" y="3794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5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Bank-grade</a:t>
            </a:r>
            <a:endParaRPr lang="en-US" sz="1300" dirty="0"/>
          </a:p>
        </p:txBody>
      </p:sp>
      <p:sp>
        <p:nvSpPr>
          <p:cNvPr id="35" name="Text 26"/>
          <p:cNvSpPr/>
          <p:nvPr/>
        </p:nvSpPr>
        <p:spPr>
          <a:xfrm>
            <a:off x="640080" y="40965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Tokenized cards. PCI DSS aligned.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3246120" y="370332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5576C">
                <a:alpha val="40000"/>
              </a:srgbClr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3429000" y="3794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5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3429000" y="40965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payments, FX-aware pricing.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6035040" y="3703320"/>
            <a:ext cx="2651760" cy="777240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F5576C">
                <a:alpha val="40000"/>
              </a:srgbClr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6217920" y="3794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5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Fraud-aware</a:t>
            </a:r>
            <a:endParaRPr lang="en-US" sz="1300" dirty="0"/>
          </a:p>
        </p:txBody>
      </p:sp>
      <p:sp>
        <p:nvSpPr>
          <p:cNvPr id="41" name="Text 32"/>
          <p:cNvSpPr/>
          <p:nvPr/>
        </p:nvSpPr>
        <p:spPr>
          <a:xfrm>
            <a:off x="6217920" y="40965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risk scoring on every transaction.</a:t>
            </a:r>
            <a:endParaRPr lang="en-US" sz="1000" dirty="0"/>
          </a:p>
        </p:txBody>
      </p:sp>
      <p:sp>
        <p:nvSpPr>
          <p:cNvPr id="42" name="Text 33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 •  Super-App Platform</a:t>
            </a:r>
            <a:endParaRPr lang="en-US" sz="900" dirty="0"/>
          </a:p>
        </p:txBody>
      </p:sp>
      <p:sp>
        <p:nvSpPr>
          <p:cNvPr id="43" name="Text 34"/>
          <p:cNvSpPr/>
          <p:nvPr/>
        </p:nvSpPr>
        <p:spPr>
          <a:xfrm>
            <a:off x="795528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914400"/>
            <a:ext cx="3200400" cy="3200400"/>
          </a:xfrm>
          <a:prstGeom prst="ellipse">
            <a:avLst/>
          </a:prstGeom>
          <a:solidFill>
            <a:srgbClr val="F093FB">
              <a:alpha val="20000"/>
            </a:srgbClr>
          </a:solidFill>
          <a:ln w="12700">
            <a:solidFill>
              <a:srgbClr val="F093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840480"/>
            <a:ext cx="2743200" cy="2743200"/>
          </a:xfrm>
          <a:prstGeom prst="ellipse">
            <a:avLst/>
          </a:prstGeom>
          <a:solidFill>
            <a:srgbClr val="F5576C">
              <a:alpha val="15000"/>
            </a:srgbClr>
          </a:solidFill>
          <a:ln w="12700">
            <a:solidFill>
              <a:srgbClr val="F5576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5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PAYOUT SYSTEM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2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payouts. Lower fees. No surprises.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Drivers, hosts, creators, merchants, and employees — all paid from the same engine.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0116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557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T+1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7200" y="26060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payout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37460" y="182880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37460" y="20116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8C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Same-day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37460" y="26060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payout option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82880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7720" y="20116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8E2D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617720" y="26060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fees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697980" y="1828800"/>
            <a:ext cx="196596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97980" y="2011680"/>
            <a:ext cx="1965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A1B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24/7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697980" y="2606040"/>
            <a:ext cx="1965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visibility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8229600" cy="1508760"/>
          </a:xfrm>
          <a:prstGeom prst="roundRect">
            <a:avLst>
              <a:gd name="adj" fmla="val 7273"/>
            </a:avLst>
          </a:prstGeom>
          <a:solidFill>
            <a:srgbClr val="120A2A"/>
          </a:solidFill>
          <a:ln w="12700">
            <a:solidFill>
              <a:srgbClr val="120A2A"/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9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gets paid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657600"/>
            <a:ext cx="1508760" cy="914400"/>
          </a:xfrm>
          <a:prstGeom prst="roundRect">
            <a:avLst>
              <a:gd name="adj" fmla="val 10000"/>
            </a:avLst>
          </a:prstGeom>
          <a:solidFill>
            <a:srgbClr val="1F1240"/>
          </a:solidFill>
          <a:ln w="12700">
            <a:solidFill>
              <a:srgbClr val="8E2DE2">
                <a:alpha val="40000"/>
              </a:srgbClr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3904488"/>
            <a:ext cx="411480" cy="4114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234440" y="39319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2240280" y="3657600"/>
            <a:ext cx="1508760" cy="914400"/>
          </a:xfrm>
          <a:prstGeom prst="roundRect">
            <a:avLst>
              <a:gd name="adj" fmla="val 10000"/>
            </a:avLst>
          </a:prstGeom>
          <a:solidFill>
            <a:srgbClr val="1F1240"/>
          </a:solidFill>
          <a:ln w="12700">
            <a:solidFill>
              <a:srgbClr val="8E2DE2">
                <a:alpha val="40000"/>
              </a:srgbClr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40" y="3904488"/>
            <a:ext cx="411480" cy="41148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2834640" y="39319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</a:t>
            </a:r>
            <a:endParaRPr lang="en-US" sz="1200" dirty="0"/>
          </a:p>
        </p:txBody>
      </p:sp>
      <p:sp>
        <p:nvSpPr>
          <p:cNvPr id="27" name="Shape 23"/>
          <p:cNvSpPr/>
          <p:nvPr/>
        </p:nvSpPr>
        <p:spPr>
          <a:xfrm>
            <a:off x="3840480" y="3657600"/>
            <a:ext cx="1508760" cy="914400"/>
          </a:xfrm>
          <a:prstGeom prst="roundRect">
            <a:avLst>
              <a:gd name="adj" fmla="val 10000"/>
            </a:avLst>
          </a:prstGeom>
          <a:solidFill>
            <a:srgbClr val="1F1240"/>
          </a:solidFill>
          <a:ln w="12700">
            <a:solidFill>
              <a:srgbClr val="8E2DE2">
                <a:alpha val="40000"/>
              </a:srgbClr>
            </a:solidFill>
            <a:prstDash val="solid"/>
          </a:ln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3904488"/>
            <a:ext cx="411480" cy="41148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434840" y="39319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Creators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5440680" y="3657600"/>
            <a:ext cx="1508760" cy="914400"/>
          </a:xfrm>
          <a:prstGeom prst="roundRect">
            <a:avLst>
              <a:gd name="adj" fmla="val 10000"/>
            </a:avLst>
          </a:prstGeom>
          <a:solidFill>
            <a:srgbClr val="1F1240"/>
          </a:solidFill>
          <a:ln w="12700">
            <a:solidFill>
              <a:srgbClr val="8E2DE2">
                <a:alpha val="40000"/>
              </a:srgbClr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3904488"/>
            <a:ext cx="411480" cy="41148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035040" y="39319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Merchants</a:t>
            </a:r>
            <a:endParaRPr lang="en-US" sz="1200" dirty="0"/>
          </a:p>
        </p:txBody>
      </p:sp>
      <p:sp>
        <p:nvSpPr>
          <p:cNvPr id="33" name="Shape 27"/>
          <p:cNvSpPr/>
          <p:nvPr/>
        </p:nvSpPr>
        <p:spPr>
          <a:xfrm>
            <a:off x="7040880" y="3657600"/>
            <a:ext cx="1508760" cy="914400"/>
          </a:xfrm>
          <a:prstGeom prst="roundRect">
            <a:avLst>
              <a:gd name="adj" fmla="val 10000"/>
            </a:avLst>
          </a:prstGeom>
          <a:solidFill>
            <a:srgbClr val="1F1240"/>
          </a:solidFill>
          <a:ln w="12700">
            <a:solidFill>
              <a:srgbClr val="8E2DE2">
                <a:alpha val="40000"/>
              </a:srgbClr>
            </a:solidFill>
            <a:prstDash val="solid"/>
          </a:ln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3904488"/>
            <a:ext cx="411480" cy="41148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7635240" y="39319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Employees</a:t>
            </a:r>
            <a:endParaRPr lang="en-US" sz="1200" dirty="0"/>
          </a:p>
        </p:txBody>
      </p:sp>
      <p:sp>
        <p:nvSpPr>
          <p:cNvPr id="36" name="Text 29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 •  Super-App Platform</a:t>
            </a:r>
            <a:endParaRPr lang="en-US" sz="900" dirty="0"/>
          </a:p>
        </p:txBody>
      </p:sp>
      <p:sp>
        <p:nvSpPr>
          <p:cNvPr id="37" name="Text 30"/>
          <p:cNvSpPr/>
          <p:nvPr/>
        </p:nvSpPr>
        <p:spPr>
          <a:xfrm>
            <a:off x="795528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0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943600" cy="5943600"/>
          </a:xfrm>
          <a:prstGeom prst="ellipse">
            <a:avLst/>
          </a:prstGeom>
          <a:solidFill>
            <a:srgbClr val="F5576C">
              <a:alpha val="30000"/>
            </a:srgbClr>
          </a:solidFill>
          <a:ln w="12700">
            <a:solidFill>
              <a:srgbClr val="F5576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828800"/>
            <a:ext cx="5943600" cy="5943600"/>
          </a:xfrm>
          <a:prstGeom prst="ellipse">
            <a:avLst/>
          </a:prstGeom>
          <a:solidFill>
            <a:srgbClr val="8E2DE2">
              <a:alpha val="35000"/>
            </a:srgbClr>
          </a:solidFill>
          <a:ln w="12700">
            <a:solidFill>
              <a:srgbClr val="8E2DE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2743200"/>
            <a:ext cx="5029200" cy="5029200"/>
          </a:xfrm>
          <a:prstGeom prst="ellipse">
            <a:avLst/>
          </a:prstGeom>
          <a:solidFill>
            <a:srgbClr val="FF8C42">
              <a:alpha val="22000"/>
            </a:srgbClr>
          </a:solidFill>
          <a:ln w="12700">
            <a:solidFill>
              <a:srgbClr val="FF8C4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9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STREAMS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ZIVO makes money — and shares it back.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Diversified revenue means no single category puts the platform at risk.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965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5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4520" y="20116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take-rate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02920" y="26334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on rides, food, stays, flights.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441448" y="187452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2578608" y="1965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5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0208" y="201168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578608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subscriptions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578608" y="26334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share on creator earnings.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4517136" y="187452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4654296" y="1965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5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5896" y="2011680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654296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SaaS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654296" y="26334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software for shops &amp; resorts.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6592824" y="187452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24" name="Text 19"/>
          <p:cNvSpPr/>
          <p:nvPr/>
        </p:nvSpPr>
        <p:spPr>
          <a:xfrm>
            <a:off x="6729984" y="1965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5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584" y="2011680"/>
            <a:ext cx="365760" cy="3657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6729984" y="22860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processing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6729984" y="263347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Per-transaction fee on the wallet.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65760" y="320040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29" name="Text 23"/>
          <p:cNvSpPr/>
          <p:nvPr/>
        </p:nvSpPr>
        <p:spPr>
          <a:xfrm>
            <a:off x="502920" y="3291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5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74520" y="3337560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02920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coins &amp; gifts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502920" y="39593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Daily-driver coin packs and tipping.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2441448" y="320040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34" name="Text 27"/>
          <p:cNvSpPr/>
          <p:nvPr/>
        </p:nvSpPr>
        <p:spPr>
          <a:xfrm>
            <a:off x="2578608" y="3291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5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50208" y="3337560"/>
            <a:ext cx="365760" cy="36576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25786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&amp; promotions</a:t>
            </a:r>
            <a:endParaRPr lang="en-US" sz="1300" dirty="0"/>
          </a:p>
        </p:txBody>
      </p:sp>
      <p:sp>
        <p:nvSpPr>
          <p:cNvPr id="37" name="Text 29"/>
          <p:cNvSpPr/>
          <p:nvPr/>
        </p:nvSpPr>
        <p:spPr>
          <a:xfrm>
            <a:off x="2578608" y="39593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Sponsored Explore, lunch deals, jobs.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4517136" y="320040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39" name="Text 31"/>
          <p:cNvSpPr/>
          <p:nvPr/>
        </p:nvSpPr>
        <p:spPr>
          <a:xfrm>
            <a:off x="4654296" y="3291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5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25896" y="3337560"/>
            <a:ext cx="365760" cy="365760"/>
          </a:xfrm>
          <a:prstGeom prst="rect">
            <a:avLst/>
          </a:prstGeom>
        </p:spPr>
      </p:pic>
      <p:sp>
        <p:nvSpPr>
          <p:cNvPr id="41" name="Text 32"/>
          <p:cNvSpPr/>
          <p:nvPr/>
        </p:nvSpPr>
        <p:spPr>
          <a:xfrm>
            <a:off x="4654296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placement fees</a:t>
            </a:r>
            <a:endParaRPr lang="en-US" sz="1300" dirty="0"/>
          </a:p>
        </p:txBody>
      </p:sp>
      <p:sp>
        <p:nvSpPr>
          <p:cNvPr id="42" name="Text 33"/>
          <p:cNvSpPr/>
          <p:nvPr/>
        </p:nvSpPr>
        <p:spPr>
          <a:xfrm>
            <a:off x="4654296" y="39593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 onboarding + employer hiring.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6592824" y="3200400"/>
            <a:ext cx="201168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44" name="Text 35"/>
          <p:cNvSpPr/>
          <p:nvPr/>
        </p:nvSpPr>
        <p:spPr>
          <a:xfrm>
            <a:off x="6729984" y="32918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5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01584" y="3337560"/>
            <a:ext cx="365760" cy="365760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6729984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memberships</a:t>
            </a:r>
            <a:endParaRPr lang="en-US" sz="1300" dirty="0"/>
          </a:p>
        </p:txBody>
      </p:sp>
      <p:sp>
        <p:nvSpPr>
          <p:cNvPr id="47" name="Text 37"/>
          <p:cNvSpPr/>
          <p:nvPr/>
        </p:nvSpPr>
        <p:spPr>
          <a:xfrm>
            <a:off x="6729984" y="3959352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Explorer → Pro tier perks.</a:t>
            </a:r>
            <a:endParaRPr lang="en-US" sz="1000" dirty="0"/>
          </a:p>
        </p:txBody>
      </p:sp>
      <p:sp>
        <p:nvSpPr>
          <p:cNvPr id="48" name="Text 38"/>
          <p:cNvSpPr/>
          <p:nvPr/>
        </p:nvSpPr>
        <p:spPr>
          <a:xfrm>
            <a:off x="457200" y="4526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stream feeds the wallet — the wallet pays the people — the people stay on ZIVO.</a:t>
            </a:r>
            <a:endParaRPr lang="en-US" sz="1100" dirty="0"/>
          </a:p>
        </p:txBody>
      </p:sp>
      <p:sp>
        <p:nvSpPr>
          <p:cNvPr id="49" name="Text 39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 •  Super-App Platform</a:t>
            </a:r>
            <a:endParaRPr lang="en-US" sz="900" dirty="0"/>
          </a:p>
        </p:txBody>
      </p:sp>
      <p:sp>
        <p:nvSpPr>
          <p:cNvPr id="50" name="Text 40"/>
          <p:cNvSpPr/>
          <p:nvPr/>
        </p:nvSpPr>
        <p:spPr>
          <a:xfrm>
            <a:off x="795528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26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914400"/>
            <a:ext cx="3200400" cy="3200400"/>
          </a:xfrm>
          <a:prstGeom prst="ellipse">
            <a:avLst/>
          </a:prstGeom>
          <a:solidFill>
            <a:srgbClr val="F093FB">
              <a:alpha val="20000"/>
            </a:srgbClr>
          </a:solidFill>
          <a:ln w="12700">
            <a:solidFill>
              <a:srgbClr val="F093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840480"/>
            <a:ext cx="2743200" cy="2743200"/>
          </a:xfrm>
          <a:prstGeom prst="ellipse">
            <a:avLst/>
          </a:prstGeom>
          <a:solidFill>
            <a:srgbClr val="F5576C">
              <a:alpha val="15000"/>
            </a:srgbClr>
          </a:solidFill>
          <a:ln w="12700">
            <a:solidFill>
              <a:srgbClr val="F5576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5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USERS WILL LOVE ZIVO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2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 apps. More life. Real rewards.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664208"/>
            <a:ext cx="548640" cy="548640"/>
          </a:xfrm>
          <a:prstGeom prst="ellipse">
            <a:avLst/>
          </a:prstGeom>
          <a:solidFill>
            <a:srgbClr val="F5576C">
              <a:alpha val="12000"/>
            </a:srgbClr>
          </a:solidFill>
          <a:ln w="12700">
            <a:solidFill>
              <a:srgbClr val="F5576C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75564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62763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login, one identity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25880" y="19659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across ZIVO. Build trust once, use it everywhere.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223260" y="146304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06140" y="1664208"/>
            <a:ext cx="548640" cy="548640"/>
          </a:xfrm>
          <a:prstGeom prst="ellipse">
            <a:avLst/>
          </a:prstGeom>
          <a:solidFill>
            <a:srgbClr val="F5576C">
              <a:alpha val="12000"/>
            </a:srgbClr>
          </a:solidFill>
          <a:ln w="12700">
            <a:solidFill>
              <a:srgbClr val="F5576C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580" y="1755648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91940" y="162763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rewarded for using it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091940" y="19659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Coins for streaks, challenges, daily check-ins. Redeem for real value.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989320" y="146304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72200" y="1664208"/>
            <a:ext cx="548640" cy="548640"/>
          </a:xfrm>
          <a:prstGeom prst="ellipse">
            <a:avLst/>
          </a:prstGeom>
          <a:solidFill>
            <a:srgbClr val="F5576C">
              <a:alpha val="12000"/>
            </a:srgbClr>
          </a:solidFill>
          <a:ln w="12700">
            <a:solidFill>
              <a:srgbClr val="F5576C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755648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58000" y="162763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connected your way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858000" y="196596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Friends, channels, creators — with the privacy controls you want.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457200" y="2724912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0080" y="2926080"/>
            <a:ext cx="548640" cy="548640"/>
          </a:xfrm>
          <a:prstGeom prst="ellipse">
            <a:avLst/>
          </a:prstGeom>
          <a:solidFill>
            <a:srgbClr val="F5576C">
              <a:alpha val="12000"/>
            </a:srgbClr>
          </a:solidFill>
          <a:ln w="12700">
            <a:solidFill>
              <a:srgbClr val="F5576C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01752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325880" y="288950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the world simply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325880" y="32278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Rides, food, flights and stays — same wallet, one history.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223260" y="2724912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406140" y="2926080"/>
            <a:ext cx="548640" cy="548640"/>
          </a:xfrm>
          <a:prstGeom prst="ellipse">
            <a:avLst/>
          </a:prstGeom>
          <a:solidFill>
            <a:srgbClr val="F5576C">
              <a:alpha val="12000"/>
            </a:srgbClr>
          </a:solidFill>
          <a:ln w="12700">
            <a:solidFill>
              <a:srgbClr val="F5576C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7580" y="3017520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091940" y="288950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 from anywhere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4091940" y="32278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Drive, host, create, deliver, freelance — ZIVO pays daily.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5989320" y="2724912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172200" y="2926080"/>
            <a:ext cx="548640" cy="548640"/>
          </a:xfrm>
          <a:prstGeom prst="ellipse">
            <a:avLst/>
          </a:prstGeom>
          <a:solidFill>
            <a:srgbClr val="F5576C">
              <a:alpha val="12000"/>
            </a:srgbClr>
          </a:solidFill>
          <a:ln w="12700">
            <a:solidFill>
              <a:srgbClr val="F5576C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017520"/>
            <a:ext cx="365760" cy="36576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858000" y="288950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secure by default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6858000" y="322783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auth, fraud monitoring, parental safety, 18+ enforced.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457200" y="4206240"/>
            <a:ext cx="8229600" cy="502920"/>
          </a:xfrm>
          <a:prstGeom prst="roundRect">
            <a:avLst>
              <a:gd name="adj" fmla="val 21818"/>
            </a:avLst>
          </a:prstGeom>
          <a:solidFill>
            <a:srgbClr val="F5576C"/>
          </a:solidFill>
          <a:ln w="12700">
            <a:solidFill>
              <a:srgbClr val="F5576C"/>
            </a:solidFill>
            <a:prstDash val="solid"/>
          </a:ln>
          <a:effectLst>
            <a:outerShdw sx="100000" sy="100000" kx="0" ky="0" algn="bl" rotWithShape="0" blurRad="279400" dist="50800" dir="5400000">
              <a:srgbClr val="F5576C">
                <a:alpha val="35000"/>
              </a:srgbClr>
            </a:outerShdw>
          </a:effectLst>
        </p:spPr>
      </p:sp>
      <p:sp>
        <p:nvSpPr>
          <p:cNvPr id="37" name="Text 29"/>
          <p:cNvSpPr/>
          <p:nvPr/>
        </p:nvSpPr>
        <p:spPr>
          <a:xfrm>
            <a:off x="457200" y="42062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open 12 apps when ZIVO does it all — and pays you to stay?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 •  Super-App Platform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795528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26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914400"/>
            <a:ext cx="3200400" cy="3200400"/>
          </a:xfrm>
          <a:prstGeom prst="ellipse">
            <a:avLst/>
          </a:prstGeom>
          <a:solidFill>
            <a:srgbClr val="F093FB">
              <a:alpha val="20000"/>
            </a:srgbClr>
          </a:solidFill>
          <a:ln w="12700">
            <a:solidFill>
              <a:srgbClr val="F093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840480"/>
            <a:ext cx="2743200" cy="2743200"/>
          </a:xfrm>
          <a:prstGeom prst="ellipse">
            <a:avLst/>
          </a:prstGeom>
          <a:solidFill>
            <a:srgbClr val="F5576C">
              <a:alpha val="15000"/>
            </a:srgbClr>
          </a:solidFill>
          <a:ln w="12700">
            <a:solidFill>
              <a:srgbClr val="F5576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5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BUSINESSES JOIN ZIVO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12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Replace 6 tools. Reach a crowd that already lives here.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4023360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659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97280" y="199339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55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PAYING FOR 6 SUBSCRIPTIONS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4008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everything from ZIVO Merchant.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5800" y="278892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POS, bookings, channel manager, dynamic pricing.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 staff, shift handover, guest folio.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Promotions, gift vouchers, reviews.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Reports, payouts, payroll — one dashboard.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1783080"/>
            <a:ext cx="4023360" cy="2743200"/>
          </a:xfrm>
          <a:prstGeom prst="roundRect">
            <a:avLst>
              <a:gd name="adj" fmla="val 4000"/>
            </a:avLst>
          </a:prstGeom>
          <a:solidFill>
            <a:srgbClr val="120A2A"/>
          </a:solidFill>
          <a:ln w="12700">
            <a:solidFill>
              <a:srgbClr val="120A2A"/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96596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03520" y="199339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09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BUILT-IN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846320" y="2286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discovered by every ZIVO user.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892040" y="2788920"/>
            <a:ext cx="365760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in Eats, Stay, Rides, Drive, Jobs.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Search puts you in front of intent.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Push, in-app and SMS marketing built-in.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payouts — cashflow you can plan around.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 •  Super-App Platform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795528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26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0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943600" cy="5943600"/>
          </a:xfrm>
          <a:prstGeom prst="ellipse">
            <a:avLst/>
          </a:prstGeom>
          <a:solidFill>
            <a:srgbClr val="F5576C">
              <a:alpha val="30000"/>
            </a:srgbClr>
          </a:solidFill>
          <a:ln w="12700">
            <a:solidFill>
              <a:srgbClr val="F5576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828800"/>
            <a:ext cx="5943600" cy="5943600"/>
          </a:xfrm>
          <a:prstGeom prst="ellipse">
            <a:avLst/>
          </a:prstGeom>
          <a:solidFill>
            <a:srgbClr val="8E2DE2">
              <a:alpha val="35000"/>
            </a:srgbClr>
          </a:solidFill>
          <a:ln w="12700">
            <a:solidFill>
              <a:srgbClr val="8E2DE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2743200"/>
            <a:ext cx="5029200" cy="5029200"/>
          </a:xfrm>
          <a:prstGeom prst="ellipse">
            <a:avLst/>
          </a:prstGeom>
          <a:solidFill>
            <a:srgbClr val="FF8C42">
              <a:alpha val="22000"/>
            </a:srgbClr>
          </a:solidFill>
          <a:ln w="12700">
            <a:solidFill>
              <a:srgbClr val="FF8C4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with us. Earn with us.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i="1" dirty="0">
                <a:solidFill>
                  <a:srgbClr val="F093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 with the platform building the future of everyday life.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26974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926080"/>
            <a:ext cx="2697480" cy="73152"/>
          </a:xfrm>
          <a:prstGeom prst="rect">
            <a:avLst/>
          </a:prstGeom>
          <a:solidFill>
            <a:srgbClr val="F5576C"/>
          </a:solidFill>
          <a:ln w="12700">
            <a:solidFill>
              <a:srgbClr val="F5576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320040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31729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Users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280160" y="35661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free. Earn coins from day one.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46120" y="2926080"/>
            <a:ext cx="26974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46120" y="2926080"/>
            <a:ext cx="2697480" cy="7315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320040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69080" y="31729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Businesses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069080" y="35661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in minutes. Replace 6 tools today.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035040" y="2926080"/>
            <a:ext cx="269748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35040" y="2926080"/>
            <a:ext cx="2697480" cy="73152"/>
          </a:xfrm>
          <a:prstGeom prst="rect">
            <a:avLst/>
          </a:prstGeom>
          <a:solidFill>
            <a:srgbClr val="8E2DE2"/>
          </a:solidFill>
          <a:ln w="12700">
            <a:solidFill>
              <a:srgbClr val="8E2DE2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320040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58000" y="317296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Investors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858000" y="356616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Multi-vertical revenue. One ecosystem flywheel.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457200" y="4370832"/>
            <a:ext cx="8229600" cy="365760"/>
          </a:xfrm>
          <a:prstGeom prst="roundRect">
            <a:avLst>
              <a:gd name="adj" fmla="val 50000"/>
            </a:avLst>
          </a:prstGeom>
          <a:solidFill>
            <a:srgbClr val="F5576C"/>
          </a:solidFill>
          <a:ln w="12700">
            <a:solidFill>
              <a:srgbClr val="F5576C"/>
            </a:solidFill>
            <a:prstDash val="solid"/>
          </a:ln>
          <a:effectLst>
            <a:outerShdw sx="100000" sy="100000" kx="0" ky="0" algn="bl" rotWithShape="0" blurRad="279400" dist="50800" dir="5400000">
              <a:srgbClr val="F5576C">
                <a:alpha val="35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457200" y="437083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on ZIVO  ·  partner@zivo  ·  business.zivo  ·  invest.zivo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 •  Super-App Platform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795528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914400"/>
            <a:ext cx="3200400" cy="3200400"/>
          </a:xfrm>
          <a:prstGeom prst="ellipse">
            <a:avLst/>
          </a:prstGeom>
          <a:solidFill>
            <a:srgbClr val="F093FB">
              <a:alpha val="20000"/>
            </a:srgbClr>
          </a:solidFill>
          <a:ln w="12700">
            <a:solidFill>
              <a:srgbClr val="F093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840480"/>
            <a:ext cx="2743200" cy="2743200"/>
          </a:xfrm>
          <a:prstGeom prst="ellipse">
            <a:avLst/>
          </a:prstGeom>
          <a:solidFill>
            <a:srgbClr val="F5576C">
              <a:alpha val="15000"/>
            </a:srgbClr>
          </a:solidFill>
          <a:ln w="12700">
            <a:solidFill>
              <a:srgbClr val="F5576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5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2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super-app moment is open in Southeast Asia.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users, fragmented services, no clear local winner across social + commerce + transport.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19659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20116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57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$220B+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94360" y="26974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digital economy by 2030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537460" y="1828800"/>
            <a:ext cx="19659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37460" y="20116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8C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460M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674620" y="26974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users in SEA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17720" y="1828800"/>
            <a:ext cx="19659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17720" y="20116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E2D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78%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754880" y="26974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 on mobile weekly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697980" y="1828800"/>
            <a:ext cx="1965960" cy="1325880"/>
          </a:xfrm>
          <a:prstGeom prst="roundRect">
            <a:avLst>
              <a:gd name="adj" fmla="val 6897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697980" y="2011680"/>
            <a:ext cx="1965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A1B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app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835140" y="26974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want for daily life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3291840"/>
            <a:ext cx="8229600" cy="1417320"/>
          </a:xfrm>
          <a:prstGeom prst="roundRect">
            <a:avLst>
              <a:gd name="adj" fmla="val 7742"/>
            </a:avLst>
          </a:prstGeom>
          <a:solidFill>
            <a:srgbClr val="120A2A"/>
          </a:solidFill>
          <a:ln w="12700">
            <a:solidFill>
              <a:srgbClr val="120A2A"/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09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LAUNCH MARKETS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40080" y="36576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Cambodia  ·  Vietnam  ·  Thailand  ·  Laos  ·  Myanmar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40080" y="41605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expand to Philippines, Indonesia, Malaysia and the broader diaspora — all on the same wallet.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 •  Super-App Platform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95528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0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943600" cy="5943600"/>
          </a:xfrm>
          <a:prstGeom prst="ellipse">
            <a:avLst/>
          </a:prstGeom>
          <a:solidFill>
            <a:srgbClr val="F5576C">
              <a:alpha val="30000"/>
            </a:srgbClr>
          </a:solidFill>
          <a:ln w="12700">
            <a:solidFill>
              <a:srgbClr val="F5576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828800"/>
            <a:ext cx="5943600" cy="5943600"/>
          </a:xfrm>
          <a:prstGeom prst="ellipse">
            <a:avLst/>
          </a:prstGeom>
          <a:solidFill>
            <a:srgbClr val="8E2DE2">
              <a:alpha val="35000"/>
            </a:srgbClr>
          </a:solidFill>
          <a:ln w="12700">
            <a:solidFill>
              <a:srgbClr val="8E2DE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2743200"/>
            <a:ext cx="5029200" cy="5029200"/>
          </a:xfrm>
          <a:prstGeom prst="ellipse">
            <a:avLst/>
          </a:prstGeom>
          <a:solidFill>
            <a:srgbClr val="FF8C42">
              <a:alpha val="22000"/>
            </a:srgbClr>
          </a:solidFill>
          <a:ln w="12700">
            <a:solidFill>
              <a:srgbClr val="FF8C4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9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competitor does one slice. ZIVO does the whole pie.</a:t>
            </a:r>
            <a:endParaRPr lang="en-US" sz="24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914400"/>
                <a:gridCol w="914400"/>
                <a:gridCol w="914400"/>
                <a:gridCol w="914400"/>
                <a:gridCol w="914400"/>
                <a:gridCol w="91440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Capability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ZIVO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57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E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Facebook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E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E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Airbnb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E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Booking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4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8E1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TikTok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1B4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Social feed &amp; reels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57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7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7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7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Messaging &amp; channels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57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7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7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7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7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Creator subscriptions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57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7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7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7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7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7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Ride-hailing &amp; delivery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57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7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7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7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7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Hotels, stays &amp; flights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57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7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7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6A3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7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Merchant SaaS / POS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57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7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7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7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7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7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Jobs + employee manager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57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7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7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7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7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7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 wallet &amp; payouts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57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7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7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7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7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8B7B9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D2A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1240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09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is the only platform building all eight capabilities under one wallet, one identity, one experience.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 •  Super-App Platform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95528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26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914400"/>
            <a:ext cx="3200400" cy="3200400"/>
          </a:xfrm>
          <a:prstGeom prst="ellipse">
            <a:avLst/>
          </a:prstGeom>
          <a:solidFill>
            <a:srgbClr val="F093FB">
              <a:alpha val="20000"/>
            </a:srgbClr>
          </a:solidFill>
          <a:ln w="12700">
            <a:solidFill>
              <a:srgbClr val="F093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840480"/>
            <a:ext cx="2743200" cy="2743200"/>
          </a:xfrm>
          <a:prstGeom prst="ellipse">
            <a:avLst/>
          </a:prstGeom>
          <a:solidFill>
            <a:srgbClr val="F5576C">
              <a:alpha val="15000"/>
            </a:srgbClr>
          </a:solidFill>
          <a:ln w="12700">
            <a:solidFill>
              <a:srgbClr val="F5576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5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2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super-app to super-economy.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staged rollout — each phase compounds the wallet, the audience, and the supply.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1993392" cy="260604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1993392" cy="73152"/>
          </a:xfrm>
          <a:prstGeom prst="rect">
            <a:avLst/>
          </a:prstGeom>
          <a:solidFill>
            <a:srgbClr val="F5576C"/>
          </a:solidFill>
          <a:ln w="12700">
            <a:solidFill>
              <a:srgbClr val="F5576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6596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57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2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10512" y="2011680"/>
            <a:ext cx="411480" cy="4114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256032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&amp; traction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640080" y="3063240"/>
            <a:ext cx="1627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Social, Chat, Rides, Eats, Stay live in Cambodia. Wallet + daily payouts.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569464" y="1783080"/>
            <a:ext cx="1993392" cy="260604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569464" y="1783080"/>
            <a:ext cx="1993392" cy="73152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752344" y="196596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8C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2027</a:t>
            </a:r>
            <a:endParaRPr lang="en-US" sz="22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2776" y="2011680"/>
            <a:ext cx="411480" cy="4114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2752344" y="256032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Verticals deepen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2752344" y="3063240"/>
            <a:ext cx="1627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Flights, Drive (P2P cars), Creator subs, Auto / Nail / Hotel SaaS rolls out.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4681728" y="1783080"/>
            <a:ext cx="1993392" cy="260604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681728" y="1783080"/>
            <a:ext cx="1993392" cy="73152"/>
          </a:xfrm>
          <a:prstGeom prst="rect">
            <a:avLst/>
          </a:prstGeom>
          <a:solidFill>
            <a:srgbClr val="8E2DE2"/>
          </a:solidFill>
          <a:ln w="12700">
            <a:solidFill>
              <a:srgbClr val="8E2DE2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864608" y="196596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E2D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2028</a:t>
            </a:r>
            <a:endParaRPr lang="en-US" sz="22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2011680"/>
            <a:ext cx="411480" cy="41148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864608" y="256032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expansion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864608" y="3063240"/>
            <a:ext cx="1627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Vietnam, Thailand, Laos, Myanmar. Multi-currency wallet. Premium tier.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6793992" y="1783080"/>
            <a:ext cx="1993392" cy="260604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6793992" y="1783080"/>
            <a:ext cx="1993392" cy="73152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6976872" y="196596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A1B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2029+</a:t>
            </a:r>
            <a:endParaRPr lang="en-US" sz="22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47304" y="2011680"/>
            <a:ext cx="411480" cy="41148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976872" y="256032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Super-economy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6976872" y="3063240"/>
            <a:ext cx="162763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marketplace + financial services + AI agents for every business.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 •  Super-App Platform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795528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20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943600" cy="5943600"/>
          </a:xfrm>
          <a:prstGeom prst="ellipse">
            <a:avLst/>
          </a:prstGeom>
          <a:solidFill>
            <a:srgbClr val="F5576C">
              <a:alpha val="30000"/>
            </a:srgbClr>
          </a:solidFill>
          <a:ln w="12700">
            <a:solidFill>
              <a:srgbClr val="F5576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828800"/>
            <a:ext cx="5943600" cy="5943600"/>
          </a:xfrm>
          <a:prstGeom prst="ellipse">
            <a:avLst/>
          </a:prstGeom>
          <a:solidFill>
            <a:srgbClr val="8E2DE2">
              <a:alpha val="35000"/>
            </a:srgbClr>
          </a:solidFill>
          <a:ln w="12700">
            <a:solidFill>
              <a:srgbClr val="8E2DE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2743200"/>
            <a:ext cx="5029200" cy="5029200"/>
          </a:xfrm>
          <a:prstGeom prst="ellipse">
            <a:avLst/>
          </a:prstGeom>
          <a:solidFill>
            <a:srgbClr val="FF8C42">
              <a:alpha val="22000"/>
            </a:srgbClr>
          </a:solidFill>
          <a:ln w="12700">
            <a:solidFill>
              <a:srgbClr val="FF8C4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9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VISION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“We are building the home screen of everyday life — where you connect, move, earn, and run your business in one place.”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9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ZIVO Founding Team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971800"/>
            <a:ext cx="26974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3246120"/>
            <a:ext cx="502920" cy="502920"/>
          </a:xfrm>
          <a:prstGeom prst="ellipse">
            <a:avLst/>
          </a:prstGeom>
          <a:solidFill>
            <a:srgbClr val="8E2DE2">
              <a:alpha val="12000"/>
            </a:srgbClr>
          </a:solidFill>
          <a:ln w="12700">
            <a:solidFill>
              <a:srgbClr val="8E2DE2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3310128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5880" y="32461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first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325880" y="36118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time, attention, and effort. Pay daily. No hidden fees.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23260" y="2971800"/>
            <a:ext cx="26974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51860" y="3246120"/>
            <a:ext cx="502920" cy="502920"/>
          </a:xfrm>
          <a:prstGeom prst="ellipse">
            <a:avLst/>
          </a:prstGeom>
          <a:solidFill>
            <a:srgbClr val="8E2DE2">
              <a:alpha val="12000"/>
            </a:srgbClr>
          </a:solidFill>
          <a:ln w="12700">
            <a:solidFill>
              <a:srgbClr val="8E2DE2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5868" y="3310128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91940" y="32461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fast, build local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091940" y="36118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in months. Localize fees, language, regulation.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989320" y="2971800"/>
            <a:ext cx="2697480" cy="150876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217920" y="3246120"/>
            <a:ext cx="502920" cy="502920"/>
          </a:xfrm>
          <a:prstGeom prst="ellipse">
            <a:avLst/>
          </a:prstGeom>
          <a:solidFill>
            <a:srgbClr val="8E2DE2">
              <a:alpha val="12000"/>
            </a:srgbClr>
          </a:solidFill>
          <a:ln w="12700">
            <a:solidFill>
              <a:srgbClr val="8E2DE2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3310128"/>
            <a:ext cx="365760" cy="3657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58000" y="3246120"/>
            <a:ext cx="1691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ecosystem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858000" y="361188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Partners, drivers, hosts, creators — winners win together.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 •  Super-App Platform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795528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26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914400"/>
            <a:ext cx="3200400" cy="3200400"/>
          </a:xfrm>
          <a:prstGeom prst="ellipse">
            <a:avLst/>
          </a:prstGeom>
          <a:solidFill>
            <a:srgbClr val="F093FB">
              <a:alpha val="20000"/>
            </a:srgbClr>
          </a:solidFill>
          <a:ln w="12700">
            <a:solidFill>
              <a:srgbClr val="F093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840480"/>
            <a:ext cx="2743200" cy="2743200"/>
          </a:xfrm>
          <a:prstGeom prst="ellipse">
            <a:avLst/>
          </a:prstGeom>
          <a:solidFill>
            <a:srgbClr val="F5576C">
              <a:alpha val="15000"/>
            </a:srgbClr>
          </a:solidFill>
          <a:ln w="12700">
            <a:solidFill>
              <a:srgbClr val="F5576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5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2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is the product. Security is non-negotiable.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bank-grade controls, audited regularly, and friendly to the regulators we work with.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029968"/>
            <a:ext cx="548640" cy="548640"/>
          </a:xfrm>
          <a:prstGeom prst="ellipse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2121408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19933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PCI DSS aligned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325880" y="23317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tokenization, no PAN ever stored on device.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23260" y="182880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06140" y="2029968"/>
            <a:ext cx="548640" cy="548640"/>
          </a:xfrm>
          <a:prstGeom prst="ellipse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580" y="2121408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91940" y="19933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KYC / KYB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091940" y="23317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businesses, drivers, hosts, and creators.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989320" y="1828800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72200" y="2029968"/>
            <a:ext cx="548640" cy="548640"/>
          </a:xfrm>
          <a:prstGeom prst="ellipse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2121408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58000" y="1993392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 enforced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858000" y="23317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gate at signup, parental controls on social.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57200" y="3090672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40080" y="3291840"/>
            <a:ext cx="548640" cy="548640"/>
          </a:xfrm>
          <a:prstGeom prst="ellipse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8328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325880" y="325526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payments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1325880" y="359359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payment licenses or partners in every market.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3223260" y="3090672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406140" y="3291840"/>
            <a:ext cx="548640" cy="548640"/>
          </a:xfrm>
          <a:prstGeom prst="ellipse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97580" y="3383280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091940" y="325526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at rest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4091940" y="359359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AES-256 encryption on data + TLS 1.3 in transit.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5989320" y="3090672"/>
            <a:ext cx="26974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6172200" y="3291840"/>
            <a:ext cx="548640" cy="548640"/>
          </a:xfrm>
          <a:prstGeom prst="ellipse">
            <a:avLst/>
          </a:prstGeom>
          <a:solidFill>
            <a:srgbClr val="16A34A">
              <a:alpha val="12000"/>
            </a:srgbClr>
          </a:solidFill>
          <a:ln w="12700">
            <a:solidFill>
              <a:srgbClr val="16A34A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3383280"/>
            <a:ext cx="365760" cy="3657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858000" y="3255264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fraud monitoring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6858000" y="3593592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on every transaction, 24/7.</a:t>
            </a:r>
            <a:endParaRPr lang="en-US" sz="1000" dirty="0"/>
          </a:p>
        </p:txBody>
      </p:sp>
      <p:sp>
        <p:nvSpPr>
          <p:cNvPr id="37" name="Text 29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ZIVO account, every payment, every payout — protected end-to-end.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 •  Super-App Platform</a:t>
            </a:r>
            <a:endParaRPr lang="en-US" sz="900" dirty="0"/>
          </a:p>
        </p:txBody>
      </p:sp>
      <p:sp>
        <p:nvSpPr>
          <p:cNvPr id="39" name="Text 31"/>
          <p:cNvSpPr/>
          <p:nvPr/>
        </p:nvSpPr>
        <p:spPr>
          <a:xfrm>
            <a:off x="795528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26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20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943600" cy="5943600"/>
          </a:xfrm>
          <a:prstGeom prst="ellipse">
            <a:avLst/>
          </a:prstGeom>
          <a:solidFill>
            <a:srgbClr val="F5576C">
              <a:alpha val="30000"/>
            </a:srgbClr>
          </a:solidFill>
          <a:ln w="12700">
            <a:solidFill>
              <a:srgbClr val="F5576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828800"/>
            <a:ext cx="5943600" cy="5943600"/>
          </a:xfrm>
          <a:prstGeom prst="ellipse">
            <a:avLst/>
          </a:prstGeom>
          <a:solidFill>
            <a:srgbClr val="8E2DE2">
              <a:alpha val="35000"/>
            </a:srgbClr>
          </a:solidFill>
          <a:ln w="12700">
            <a:solidFill>
              <a:srgbClr val="8E2DE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2743200"/>
            <a:ext cx="5029200" cy="5029200"/>
          </a:xfrm>
          <a:prstGeom prst="ellipse">
            <a:avLst/>
          </a:prstGeom>
          <a:solidFill>
            <a:srgbClr val="FF8C42">
              <a:alpha val="22000"/>
            </a:srgbClr>
          </a:solidFill>
          <a:ln w="12700">
            <a:solidFill>
              <a:srgbClr val="FF8C4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9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ON ZIVO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13232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 numbers. Real people. Daily payouts.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monthly earnings based on regional benchmarks — every dollar paid through the ZIVO Wallet.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1993392" cy="260604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133856" y="2103120"/>
            <a:ext cx="640080" cy="640080"/>
          </a:xfrm>
          <a:prstGeom prst="ellipse">
            <a:avLst/>
          </a:prstGeom>
          <a:solidFill>
            <a:srgbClr val="FF8C42">
              <a:alpha val="15000"/>
            </a:srgbClr>
          </a:solidFill>
          <a:ln w="12700">
            <a:solidFill>
              <a:srgbClr val="FF8C42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25296" y="219456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" y="283464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48640" y="320040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8C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$650+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548640" y="370332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month part-time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40080" y="397764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hrs/week of rides + delivery during peak.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2569464" y="1828800"/>
            <a:ext cx="1993392" cy="260604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46120" y="2103120"/>
            <a:ext cx="640080" cy="640080"/>
          </a:xfrm>
          <a:prstGeom prst="ellipse">
            <a:avLst/>
          </a:prstGeom>
          <a:solidFill>
            <a:srgbClr val="F093FB">
              <a:alpha val="15000"/>
            </a:srgbClr>
          </a:solidFill>
          <a:ln w="12700">
            <a:solidFill>
              <a:srgbClr val="F093FB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560" y="2194560"/>
            <a:ext cx="457200" cy="4572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706624" y="283464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2660904" y="320040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093F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$1,800+</a:t>
            </a:r>
            <a:endParaRPr lang="en-US" sz="2800" dirty="0"/>
          </a:p>
        </p:txBody>
      </p:sp>
      <p:sp>
        <p:nvSpPr>
          <p:cNvPr id="20" name="Text 16"/>
          <p:cNvSpPr/>
          <p:nvPr/>
        </p:nvSpPr>
        <p:spPr>
          <a:xfrm>
            <a:off x="2660904" y="370332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month per room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2752344" y="397764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Resort or guesthouse listing on ZIVO Stay.</a:t>
            </a:r>
            <a:endParaRPr lang="en-US" sz="950" dirty="0"/>
          </a:p>
        </p:txBody>
      </p:sp>
      <p:sp>
        <p:nvSpPr>
          <p:cNvPr id="22" name="Shape 18"/>
          <p:cNvSpPr/>
          <p:nvPr/>
        </p:nvSpPr>
        <p:spPr>
          <a:xfrm>
            <a:off x="4681728" y="1828800"/>
            <a:ext cx="1993392" cy="260604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5358384" y="2103120"/>
            <a:ext cx="640080" cy="640080"/>
          </a:xfrm>
          <a:prstGeom prst="ellipse">
            <a:avLst/>
          </a:prstGeom>
          <a:solidFill>
            <a:srgbClr val="F5576C">
              <a:alpha val="15000"/>
            </a:srgbClr>
          </a:solidFill>
          <a:ln w="12700">
            <a:solidFill>
              <a:srgbClr val="F5576C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9824" y="2194560"/>
            <a:ext cx="457200" cy="45720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4818888" y="283464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4773168" y="320040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57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$2,400+</a:t>
            </a:r>
            <a:endParaRPr lang="en-US" sz="2800" dirty="0"/>
          </a:p>
        </p:txBody>
      </p:sp>
      <p:sp>
        <p:nvSpPr>
          <p:cNvPr id="27" name="Text 22"/>
          <p:cNvSpPr/>
          <p:nvPr/>
        </p:nvSpPr>
        <p:spPr>
          <a:xfrm>
            <a:off x="4773168" y="370332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month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864608" y="397764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paid subscribers at $3 average.</a:t>
            </a:r>
            <a:endParaRPr lang="en-US" sz="950" dirty="0"/>
          </a:p>
        </p:txBody>
      </p:sp>
      <p:sp>
        <p:nvSpPr>
          <p:cNvPr id="29" name="Shape 24"/>
          <p:cNvSpPr/>
          <p:nvPr/>
        </p:nvSpPr>
        <p:spPr>
          <a:xfrm>
            <a:off x="6793992" y="1828800"/>
            <a:ext cx="1993392" cy="2606040"/>
          </a:xfrm>
          <a:prstGeom prst="roundRect">
            <a:avLst>
              <a:gd name="adj" fmla="val 55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7470648" y="2103120"/>
            <a:ext cx="640080" cy="640080"/>
          </a:xfrm>
          <a:prstGeom prst="ellipse">
            <a:avLst/>
          </a:prstGeom>
          <a:solidFill>
            <a:srgbClr val="8E2DE2">
              <a:alpha val="15000"/>
            </a:srgbClr>
          </a:solidFill>
          <a:ln w="12700">
            <a:solidFill>
              <a:srgbClr val="8E2DE2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62088" y="2194560"/>
            <a:ext cx="457200" cy="45720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931152" y="2834640"/>
            <a:ext cx="17190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6885432" y="3200400"/>
            <a:ext cx="18105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E2D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+38%</a:t>
            </a:r>
            <a:endParaRPr lang="en-US" sz="2800" dirty="0"/>
          </a:p>
        </p:txBody>
      </p:sp>
      <p:sp>
        <p:nvSpPr>
          <p:cNvPr id="34" name="Text 28"/>
          <p:cNvSpPr/>
          <p:nvPr/>
        </p:nvSpPr>
        <p:spPr>
          <a:xfrm>
            <a:off x="6885432" y="3703320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lift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6976872" y="397764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repair / nail shop using ZIVO bookings + promos.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every active user earns daily streak coins — paid in real value, not points.</a:t>
            </a:r>
            <a:endParaRPr lang="en-US" sz="1100" dirty="0"/>
          </a:p>
        </p:txBody>
      </p:sp>
      <p:sp>
        <p:nvSpPr>
          <p:cNvPr id="37" name="Text 31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 •  Super-App Platform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795528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26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914400"/>
            <a:ext cx="3200400" cy="3200400"/>
          </a:xfrm>
          <a:prstGeom prst="ellipse">
            <a:avLst/>
          </a:prstGeom>
          <a:solidFill>
            <a:srgbClr val="F093FB">
              <a:alpha val="20000"/>
            </a:srgbClr>
          </a:solidFill>
          <a:ln w="12700">
            <a:solidFill>
              <a:srgbClr val="F093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840480"/>
            <a:ext cx="2743200" cy="2743200"/>
          </a:xfrm>
          <a:prstGeom prst="ellipse">
            <a:avLst/>
          </a:prstGeom>
          <a:solidFill>
            <a:srgbClr val="F5576C">
              <a:alpha val="15000"/>
            </a:srgbClr>
          </a:solidFill>
          <a:ln w="12700">
            <a:solidFill>
              <a:srgbClr val="F5576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5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12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 free. Scale when you grow.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tiers. One dashboard. No long-term contracts.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697480" cy="27889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2011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E2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23774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2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85800" y="29718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+ 2.9% per transaction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77240" y="333756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Listing on ZIVO Stay / Eats / Rides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POS &amp; bookings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payouts to ZIVO Wallet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3 staff accounts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23260" y="1783080"/>
            <a:ext cx="2697480" cy="2788920"/>
          </a:xfrm>
          <a:prstGeom prst="roundRect">
            <a:avLst>
              <a:gd name="adj" fmla="val 4068"/>
            </a:avLst>
          </a:prstGeom>
          <a:solidFill>
            <a:srgbClr val="120A2A"/>
          </a:solidFill>
          <a:ln w="25400">
            <a:solidFill>
              <a:srgbClr val="F5576C"/>
            </a:solidFill>
            <a:prstDash val="solid"/>
          </a:ln>
          <a:effectLst>
            <a:outerShdw sx="100000" sy="100000" kx="0" ky="0" algn="bl" rotWithShape="0" blurRad="279400" dist="50800" dir="5400000">
              <a:srgbClr val="F5576C">
                <a:alpha val="3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57700" y="164592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F5576C"/>
          </a:solidFill>
          <a:ln w="12700">
            <a:solidFill>
              <a:srgbClr val="F5576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57700" y="16459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51860" y="2011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09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451860" y="23774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451860" y="29718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month + 1.9% per txn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43300" y="333756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manager + dynamic pricing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Promotions, gift vouchers, reviews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SMS / push campaigns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staff + shift handover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989320" y="1783080"/>
            <a:ext cx="2697480" cy="27889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FD9E8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17920" y="20116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217920" y="23774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F12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217920" y="29718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for chains &amp; resorts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309360" y="3337560"/>
            <a:ext cx="21945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Multi-property &amp; multi-region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access + integrations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account manager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payouts &amp; reporting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 •  Super-App Platform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95528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26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20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943600" cy="5943600"/>
          </a:xfrm>
          <a:prstGeom prst="ellipse">
            <a:avLst/>
          </a:prstGeom>
          <a:solidFill>
            <a:srgbClr val="F5576C">
              <a:alpha val="30000"/>
            </a:srgbClr>
          </a:solidFill>
          <a:ln w="12700">
            <a:solidFill>
              <a:srgbClr val="F5576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828800"/>
            <a:ext cx="5943600" cy="5943600"/>
          </a:xfrm>
          <a:prstGeom prst="ellipse">
            <a:avLst/>
          </a:prstGeom>
          <a:solidFill>
            <a:srgbClr val="8E2DE2">
              <a:alpha val="35000"/>
            </a:srgbClr>
          </a:solidFill>
          <a:ln w="12700">
            <a:solidFill>
              <a:srgbClr val="8E2DE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2743200"/>
            <a:ext cx="5029200" cy="5029200"/>
          </a:xfrm>
          <a:prstGeom prst="ellipse">
            <a:avLst/>
          </a:prstGeom>
          <a:solidFill>
            <a:srgbClr val="FF8C42">
              <a:alpha val="22000"/>
            </a:srgbClr>
          </a:solidFill>
          <a:ln w="12700">
            <a:solidFill>
              <a:srgbClr val="FF8C4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4114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9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ASK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7772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Raising $5M Seed to launch the super-app of Southeast Asia.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1993392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214884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57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35%</a:t>
            </a:r>
            <a:endParaRPr lang="en-US" sz="3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56232" y="224028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0080" y="27432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product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40080" y="310896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Mobile, web, business OS, AI.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69464" y="1965960"/>
            <a:ext cx="1993392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752344" y="214884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8C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30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8496" y="224028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752344" y="27432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 &amp; growth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752344" y="310896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acquisition + creator deals.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681728" y="1965960"/>
            <a:ext cx="1993392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18" name="Text 14"/>
          <p:cNvSpPr/>
          <p:nvPr/>
        </p:nvSpPr>
        <p:spPr>
          <a:xfrm>
            <a:off x="4864608" y="214884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E2DE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30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224028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64608" y="27432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licensing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864608" y="310896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entities + payment licenses.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793992" y="1965960"/>
            <a:ext cx="1993392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6976872" y="2148840"/>
            <a:ext cx="1627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A1B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30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224028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76872" y="2743200"/>
            <a:ext cx="1627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 &amp; runway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976872" y="3108960"/>
            <a:ext cx="16276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months runway buffer.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57200" y="3840480"/>
            <a:ext cx="8229600" cy="914400"/>
          </a:xfrm>
          <a:prstGeom prst="roundRect">
            <a:avLst>
              <a:gd name="adj" fmla="val 12000"/>
            </a:avLst>
          </a:prstGeom>
          <a:solidFill>
            <a:srgbClr val="F5576C"/>
          </a:solidFill>
          <a:ln w="12700">
            <a:solidFill>
              <a:srgbClr val="F5576C"/>
            </a:solidFill>
            <a:prstDash val="solid"/>
          </a:ln>
          <a:effectLst>
            <a:outerShdw sx="100000" sy="100000" kx="0" ky="0" algn="bl" rotWithShape="0" blurRad="279400" dist="50800" dir="5400000">
              <a:srgbClr val="F5576C">
                <a:alpha val="35000"/>
              </a:srgbClr>
            </a:outerShdw>
          </a:effectLst>
        </p:spPr>
      </p:sp>
      <p:sp>
        <p:nvSpPr>
          <p:cNvPr id="28" name="Text 22"/>
          <p:cNvSpPr/>
          <p:nvPr/>
        </p:nvSpPr>
        <p:spPr>
          <a:xfrm>
            <a:off x="640080" y="39319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Year-3: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5M+ users  ·  100K+ merchants  ·  $80M+ GMV / mo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 •  Super-App Platform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795528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26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20A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371600"/>
            <a:ext cx="5943600" cy="5943600"/>
          </a:xfrm>
          <a:prstGeom prst="ellipse">
            <a:avLst/>
          </a:prstGeom>
          <a:solidFill>
            <a:srgbClr val="F5576C">
              <a:alpha val="30000"/>
            </a:srgbClr>
          </a:solidFill>
          <a:ln w="12700">
            <a:solidFill>
              <a:srgbClr val="F5576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1828800"/>
            <a:ext cx="5943600" cy="5943600"/>
          </a:xfrm>
          <a:prstGeom prst="ellipse">
            <a:avLst/>
          </a:prstGeom>
          <a:solidFill>
            <a:srgbClr val="8E2DE2">
              <a:alpha val="35000"/>
            </a:srgbClr>
          </a:solidFill>
          <a:ln w="12700">
            <a:solidFill>
              <a:srgbClr val="8E2DE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0" y="2743200"/>
            <a:ext cx="5029200" cy="5029200"/>
          </a:xfrm>
          <a:prstGeom prst="ellipse">
            <a:avLst/>
          </a:prstGeom>
          <a:solidFill>
            <a:srgbClr val="FF8C42">
              <a:alpha val="22000"/>
            </a:srgbClr>
          </a:solidFill>
          <a:ln w="12700">
            <a:solidFill>
              <a:srgbClr val="FF8C42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3840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09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BUILT  •  ALREADY SHIPPING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pitch. A platform you can open today.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Cambodia — iOS, Android, Web, and the merchant dashboard.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554480"/>
            <a:ext cx="1298448" cy="2468880"/>
          </a:xfrm>
          <a:prstGeom prst="roundRect">
            <a:avLst>
              <a:gd name="adj" fmla="val 14085"/>
            </a:avLst>
          </a:prstGeom>
          <a:solidFill>
            <a:srgbClr val="0A0420"/>
          </a:solidFill>
          <a:ln w="12700">
            <a:solidFill>
              <a:srgbClr val="8E2DE2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0624" y="1627632"/>
            <a:ext cx="1188720" cy="2322576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0392" y="1810512"/>
            <a:ext cx="329184" cy="329184"/>
          </a:xfrm>
          <a:prstGeom prst="roundRect">
            <a:avLst>
              <a:gd name="adj" fmla="val 19444"/>
            </a:avLst>
          </a:prstGeom>
          <a:solidFill>
            <a:srgbClr val="F5576C"/>
          </a:solidFill>
          <a:ln w="12700">
            <a:solidFill>
              <a:srgbClr val="F5576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" y="1810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0624" y="219456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1111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Zivo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30352" y="2587752"/>
            <a:ext cx="969264" cy="27432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6350">
            <a:solidFill>
              <a:srgbClr val="ECEC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5216" y="2587752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or email</a:t>
            </a:r>
            <a:endParaRPr lang="en-US" sz="700" dirty="0"/>
          </a:p>
        </p:txBody>
      </p:sp>
      <p:sp>
        <p:nvSpPr>
          <p:cNvPr id="15" name="Shape 13"/>
          <p:cNvSpPr/>
          <p:nvPr/>
        </p:nvSpPr>
        <p:spPr>
          <a:xfrm>
            <a:off x="530352" y="2907792"/>
            <a:ext cx="969264" cy="274320"/>
          </a:xfrm>
          <a:prstGeom prst="roundRect">
            <a:avLst>
              <a:gd name="adj" fmla="val 16667"/>
            </a:avLst>
          </a:prstGeom>
          <a:solidFill>
            <a:srgbClr val="F5F5F5"/>
          </a:solidFill>
          <a:ln w="6350">
            <a:solidFill>
              <a:srgbClr val="ECEC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2907792"/>
            <a:ext cx="8595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530352" y="3255264"/>
            <a:ext cx="323088" cy="274320"/>
          </a:xfrm>
          <a:prstGeom prst="roundRect">
            <a:avLst>
              <a:gd name="adj" fmla="val 16667"/>
            </a:avLst>
          </a:prstGeom>
          <a:solidFill>
            <a:srgbClr val="FFD8A8"/>
          </a:solidFill>
          <a:ln w="12700">
            <a:solidFill>
              <a:srgbClr val="FFD8A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53440" y="3255264"/>
            <a:ext cx="323088" cy="274320"/>
          </a:xfrm>
          <a:prstGeom prst="roundRect">
            <a:avLst/>
          </a:prstGeom>
          <a:solidFill>
            <a:srgbClr val="FFB3BA"/>
          </a:solidFill>
          <a:ln w="12700">
            <a:solidFill>
              <a:srgbClr val="FFB3B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76528" y="3255264"/>
            <a:ext cx="323088" cy="274320"/>
          </a:xfrm>
          <a:prstGeom prst="roundRect">
            <a:avLst>
              <a:gd name="adj" fmla="val 16667"/>
            </a:avLst>
          </a:prstGeom>
          <a:solidFill>
            <a:srgbClr val="F093FB"/>
          </a:solidFill>
          <a:ln w="12700">
            <a:solidFill>
              <a:srgbClr val="F093F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0352" y="3255264"/>
            <a:ext cx="969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530352" y="3621024"/>
            <a:ext cx="969264" cy="201168"/>
          </a:xfrm>
          <a:prstGeom prst="roundRect">
            <a:avLst>
              <a:gd name="adj" fmla="val 22727"/>
            </a:avLst>
          </a:prstGeom>
          <a:solidFill>
            <a:srgbClr val="FAFAFA"/>
          </a:solidFill>
          <a:ln w="6350">
            <a:solidFill>
              <a:srgbClr val="ECECE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621024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55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365760" y="405993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709928" y="1554480"/>
            <a:ext cx="1298448" cy="2468880"/>
          </a:xfrm>
          <a:prstGeom prst="roundRect">
            <a:avLst>
              <a:gd name="adj" fmla="val 14085"/>
            </a:avLst>
          </a:prstGeom>
          <a:solidFill>
            <a:srgbClr val="0A0420"/>
          </a:solidFill>
          <a:ln w="12700">
            <a:solidFill>
              <a:srgbClr val="8E2DE2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764792" y="1627632"/>
            <a:ext cx="1188720" cy="2322576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856232" y="171907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856232" y="201168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morning, ZIVO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1856232" y="2194560"/>
            <a:ext cx="1005840" cy="502920"/>
          </a:xfrm>
          <a:prstGeom prst="roundRect">
            <a:avLst>
              <a:gd name="adj" fmla="val 14545"/>
            </a:avLst>
          </a:prstGeom>
          <a:solidFill>
            <a:srgbClr val="FAFA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29384" y="2286000"/>
            <a:ext cx="292608" cy="292608"/>
          </a:xfrm>
          <a:prstGeom prst="ellipse">
            <a:avLst/>
          </a:prstGeom>
          <a:solidFill>
            <a:srgbClr val="F5576C"/>
          </a:solidFill>
          <a:ln w="12700">
            <a:solidFill>
              <a:srgbClr val="F5576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29384" y="22860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267712" y="2286000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Platform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2267712" y="2468880"/>
            <a:ext cx="594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@zivoplatform</a:t>
            </a:r>
            <a:endParaRPr lang="en-US" sz="550" dirty="0"/>
          </a:p>
        </p:txBody>
      </p:sp>
      <p:sp>
        <p:nvSpPr>
          <p:cNvPr id="33" name="Shape 31"/>
          <p:cNvSpPr/>
          <p:nvPr/>
        </p:nvSpPr>
        <p:spPr>
          <a:xfrm>
            <a:off x="1856232" y="2770632"/>
            <a:ext cx="201168" cy="201168"/>
          </a:xfrm>
          <a:prstGeom prst="roundRect">
            <a:avLst>
              <a:gd name="adj" fmla="val 22727"/>
            </a:avLst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93976" y="2770632"/>
            <a:ext cx="731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challenges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856232" y="3044952"/>
            <a:ext cx="480060" cy="256032"/>
          </a:xfrm>
          <a:prstGeom prst="roundRect">
            <a:avLst>
              <a:gd name="adj" fmla="val 17857"/>
            </a:avLst>
          </a:prstGeom>
          <a:solidFill>
            <a:srgbClr val="FAFA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01952" y="3044952"/>
            <a:ext cx="2057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Explore</a:t>
            </a:r>
            <a:endParaRPr lang="en-US" sz="500" dirty="0"/>
          </a:p>
        </p:txBody>
      </p:sp>
      <p:sp>
        <p:nvSpPr>
          <p:cNvPr id="37" name="Text 35"/>
          <p:cNvSpPr/>
          <p:nvPr/>
        </p:nvSpPr>
        <p:spPr>
          <a:xfrm>
            <a:off x="2089404" y="3163824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</a:t>
            </a:r>
            <a:endParaRPr lang="en-US" sz="500" dirty="0"/>
          </a:p>
        </p:txBody>
      </p:sp>
      <p:sp>
        <p:nvSpPr>
          <p:cNvPr id="38" name="Shape 36"/>
          <p:cNvSpPr/>
          <p:nvPr/>
        </p:nvSpPr>
        <p:spPr>
          <a:xfrm>
            <a:off x="2382012" y="3044952"/>
            <a:ext cx="480060" cy="256032"/>
          </a:xfrm>
          <a:prstGeom prst="roundRect">
            <a:avLst>
              <a:gd name="adj" fmla="val 17857"/>
            </a:avLst>
          </a:prstGeom>
          <a:solidFill>
            <a:srgbClr val="FAFA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427732" y="3044952"/>
            <a:ext cx="2057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a reel</a:t>
            </a:r>
            <a:endParaRPr lang="en-US" sz="500" dirty="0"/>
          </a:p>
        </p:txBody>
      </p:sp>
      <p:sp>
        <p:nvSpPr>
          <p:cNvPr id="40" name="Text 38"/>
          <p:cNvSpPr/>
          <p:nvPr/>
        </p:nvSpPr>
        <p:spPr>
          <a:xfrm>
            <a:off x="2615184" y="3163824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</a:t>
            </a:r>
            <a:endParaRPr lang="en-US" sz="500" dirty="0"/>
          </a:p>
        </p:txBody>
      </p:sp>
      <p:sp>
        <p:nvSpPr>
          <p:cNvPr id="41" name="Shape 39"/>
          <p:cNvSpPr/>
          <p:nvPr/>
        </p:nvSpPr>
        <p:spPr>
          <a:xfrm>
            <a:off x="1856232" y="3337560"/>
            <a:ext cx="480060" cy="256032"/>
          </a:xfrm>
          <a:prstGeom prst="roundRect">
            <a:avLst>
              <a:gd name="adj" fmla="val 17857"/>
            </a:avLst>
          </a:prstGeom>
          <a:solidFill>
            <a:srgbClr val="FAFA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01952" y="3337560"/>
            <a:ext cx="2057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message</a:t>
            </a:r>
            <a:endParaRPr lang="en-US" sz="500" dirty="0"/>
          </a:p>
        </p:txBody>
      </p:sp>
      <p:sp>
        <p:nvSpPr>
          <p:cNvPr id="43" name="Text 41"/>
          <p:cNvSpPr/>
          <p:nvPr/>
        </p:nvSpPr>
        <p:spPr>
          <a:xfrm>
            <a:off x="2089404" y="345643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+10</a:t>
            </a:r>
            <a:endParaRPr lang="en-US" sz="500" dirty="0"/>
          </a:p>
        </p:txBody>
      </p:sp>
      <p:sp>
        <p:nvSpPr>
          <p:cNvPr id="44" name="Shape 42"/>
          <p:cNvSpPr/>
          <p:nvPr/>
        </p:nvSpPr>
        <p:spPr>
          <a:xfrm>
            <a:off x="2382012" y="3337560"/>
            <a:ext cx="480060" cy="256032"/>
          </a:xfrm>
          <a:prstGeom prst="roundRect">
            <a:avLst>
              <a:gd name="adj" fmla="val 17857"/>
            </a:avLst>
          </a:prstGeom>
          <a:solidFill>
            <a:srgbClr val="FAFA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27732" y="3337560"/>
            <a:ext cx="2057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today's…</a:t>
            </a:r>
            <a:endParaRPr lang="en-US" sz="500" dirty="0"/>
          </a:p>
        </p:txBody>
      </p:sp>
      <p:sp>
        <p:nvSpPr>
          <p:cNvPr id="46" name="Text 44"/>
          <p:cNvSpPr/>
          <p:nvPr/>
        </p:nvSpPr>
        <p:spPr>
          <a:xfrm>
            <a:off x="2615184" y="3456432"/>
            <a:ext cx="228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</a:t>
            </a:r>
            <a:endParaRPr lang="en-US" sz="500" dirty="0"/>
          </a:p>
        </p:txBody>
      </p:sp>
      <p:sp>
        <p:nvSpPr>
          <p:cNvPr id="47" name="Shape 45"/>
          <p:cNvSpPr/>
          <p:nvPr/>
        </p:nvSpPr>
        <p:spPr>
          <a:xfrm>
            <a:off x="1764792" y="3749040"/>
            <a:ext cx="1188720" cy="201168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Login</a:t>
            </a:r>
            <a:endParaRPr lang="en-US" dirty="0"/>
          </a:p>
        </p:txBody>
      </p:sp>
      <p:sp>
        <p:nvSpPr>
          <p:cNvPr id="49" name="Text 47"/>
          <p:cNvSpPr/>
          <p:nvPr/>
        </p:nvSpPr>
        <p:spPr>
          <a:xfrm>
            <a:off x="1709928" y="405993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Coins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3054096" y="1554480"/>
            <a:ext cx="1298448" cy="2468880"/>
          </a:xfrm>
          <a:prstGeom prst="roundRect">
            <a:avLst>
              <a:gd name="adj" fmla="val 14085"/>
            </a:avLst>
          </a:prstGeom>
          <a:solidFill>
            <a:srgbClr val="0A0420"/>
          </a:solidFill>
          <a:ln w="12700">
            <a:solidFill>
              <a:srgbClr val="8E2DE2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3108960" y="1627632"/>
            <a:ext cx="1188720" cy="2322576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00400" y="1719072"/>
            <a:ext cx="228600" cy="228600"/>
          </a:xfrm>
          <a:prstGeom prst="ellipse">
            <a:avLst/>
          </a:prstGeom>
          <a:solidFill>
            <a:srgbClr val="F5576C"/>
          </a:solidFill>
          <a:ln w="12700">
            <a:solidFill>
              <a:srgbClr val="F5576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200400" y="1719072"/>
            <a:ext cx="228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474720" y="1719072"/>
            <a:ext cx="731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Morning</a:t>
            </a:r>
            <a:endParaRPr lang="en-US" sz="500" dirty="0"/>
          </a:p>
        </p:txBody>
      </p:sp>
      <p:sp>
        <p:nvSpPr>
          <p:cNvPr id="55" name="Text 53"/>
          <p:cNvSpPr/>
          <p:nvPr/>
        </p:nvSpPr>
        <p:spPr>
          <a:xfrm>
            <a:off x="3474720" y="1828800"/>
            <a:ext cx="7315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</a:t>
            </a:r>
            <a:endParaRPr lang="en-US" sz="700" dirty="0"/>
          </a:p>
        </p:txBody>
      </p:sp>
      <p:sp>
        <p:nvSpPr>
          <p:cNvPr id="56" name="Shape 54"/>
          <p:cNvSpPr/>
          <p:nvPr/>
        </p:nvSpPr>
        <p:spPr>
          <a:xfrm>
            <a:off x="3236976" y="2039112"/>
            <a:ext cx="201168" cy="201168"/>
          </a:xfrm>
          <a:prstGeom prst="ellipse">
            <a:avLst/>
          </a:prstGeom>
          <a:solidFill>
            <a:srgbClr val="F5576C">
              <a:alpha val="70000"/>
            </a:srgbClr>
          </a:solidFill>
          <a:ln w="12700">
            <a:solidFill>
              <a:srgbClr val="F5576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200400" y="2267712"/>
            <a:ext cx="2514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Rides</a:t>
            </a:r>
            <a:endParaRPr lang="en-US" sz="450" dirty="0"/>
          </a:p>
        </p:txBody>
      </p:sp>
      <p:sp>
        <p:nvSpPr>
          <p:cNvPr id="58" name="Shape 56"/>
          <p:cNvSpPr/>
          <p:nvPr/>
        </p:nvSpPr>
        <p:spPr>
          <a:xfrm>
            <a:off x="3488436" y="2039112"/>
            <a:ext cx="201168" cy="201168"/>
          </a:xfrm>
          <a:prstGeom prst="ellipse">
            <a:avLst/>
          </a:prstGeom>
          <a:solidFill>
            <a:srgbClr val="FFB347">
              <a:alpha val="40000"/>
            </a:srgbClr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451860" y="2267712"/>
            <a:ext cx="2514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Eats</a:t>
            </a:r>
            <a:endParaRPr lang="en-US" sz="450" dirty="0"/>
          </a:p>
        </p:txBody>
      </p:sp>
      <p:sp>
        <p:nvSpPr>
          <p:cNvPr id="60" name="Shape 58"/>
          <p:cNvSpPr/>
          <p:nvPr/>
        </p:nvSpPr>
        <p:spPr>
          <a:xfrm>
            <a:off x="3739896" y="2039112"/>
            <a:ext cx="201168" cy="201168"/>
          </a:xfrm>
          <a:prstGeom prst="ellipse">
            <a:avLst/>
          </a:prstGeom>
          <a:solidFill>
            <a:srgbClr val="9CA3FF">
              <a:alpha val="40000"/>
            </a:srgbClr>
          </a:solidFill>
          <a:ln w="12700">
            <a:solidFill>
              <a:srgbClr val="9CA3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703320" y="2267712"/>
            <a:ext cx="2514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</a:t>
            </a:r>
            <a:endParaRPr lang="en-US" sz="450" dirty="0"/>
          </a:p>
        </p:txBody>
      </p:sp>
      <p:sp>
        <p:nvSpPr>
          <p:cNvPr id="62" name="Shape 60"/>
          <p:cNvSpPr/>
          <p:nvPr/>
        </p:nvSpPr>
        <p:spPr>
          <a:xfrm>
            <a:off x="3991356" y="2039112"/>
            <a:ext cx="201168" cy="201168"/>
          </a:xfrm>
          <a:prstGeom prst="ellipse">
            <a:avLst/>
          </a:prstGeom>
          <a:solidFill>
            <a:srgbClr val="C8A37A">
              <a:alpha val="40000"/>
            </a:srgbClr>
          </a:solidFill>
          <a:ln w="12700">
            <a:solidFill>
              <a:srgbClr val="C8A37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954780" y="2267712"/>
            <a:ext cx="2514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</a:t>
            </a:r>
            <a:endParaRPr lang="en-US" sz="450" dirty="0"/>
          </a:p>
        </p:txBody>
      </p:sp>
      <p:sp>
        <p:nvSpPr>
          <p:cNvPr id="64" name="Shape 62"/>
          <p:cNvSpPr/>
          <p:nvPr/>
        </p:nvSpPr>
        <p:spPr>
          <a:xfrm>
            <a:off x="3200400" y="2468880"/>
            <a:ext cx="1005840" cy="201168"/>
          </a:xfrm>
          <a:prstGeom prst="roundRect">
            <a:avLst>
              <a:gd name="adj" fmla="val 45455"/>
            </a:avLst>
          </a:prstGeom>
          <a:solidFill>
            <a:srgbClr val="FAFA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273552" y="2468880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Ride</a:t>
            </a:r>
            <a:endParaRPr lang="en-US" sz="500" dirty="0"/>
          </a:p>
        </p:txBody>
      </p:sp>
      <p:sp>
        <p:nvSpPr>
          <p:cNvPr id="66" name="Shape 64"/>
          <p:cNvSpPr/>
          <p:nvPr/>
        </p:nvSpPr>
        <p:spPr>
          <a:xfrm>
            <a:off x="3200400" y="2743200"/>
            <a:ext cx="1005840" cy="329184"/>
          </a:xfrm>
          <a:prstGeom prst="roundRect">
            <a:avLst>
              <a:gd name="adj" fmla="val 13889"/>
            </a:avLst>
          </a:prstGeom>
          <a:solidFill>
            <a:srgbClr val="F5F0FF"/>
          </a:solidFill>
          <a:ln w="6350">
            <a:solidFill>
              <a:srgbClr val="EEDAFF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255264" y="2779776"/>
            <a:ext cx="8961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b="1" spc="100" kern="0" dirty="0">
                <a:solidFill>
                  <a:srgbClr val="8E2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SEARCH</a:t>
            </a:r>
            <a:endParaRPr lang="en-US" sz="450" dirty="0"/>
          </a:p>
        </p:txBody>
      </p:sp>
      <p:sp>
        <p:nvSpPr>
          <p:cNvPr id="68" name="Text 66"/>
          <p:cNvSpPr/>
          <p:nvPr/>
        </p:nvSpPr>
        <p:spPr>
          <a:xfrm>
            <a:off x="3255264" y="2898648"/>
            <a:ext cx="8961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"pizza near me"</a:t>
            </a:r>
            <a:endParaRPr lang="en-US" sz="500" dirty="0"/>
          </a:p>
        </p:txBody>
      </p:sp>
      <p:sp>
        <p:nvSpPr>
          <p:cNvPr id="69" name="Shape 67"/>
          <p:cNvSpPr/>
          <p:nvPr/>
        </p:nvSpPr>
        <p:spPr>
          <a:xfrm>
            <a:off x="3200400" y="3136392"/>
            <a:ext cx="1005840" cy="292608"/>
          </a:xfrm>
          <a:prstGeom prst="roundRect">
            <a:avLst>
              <a:gd name="adj" fmla="val 15625"/>
            </a:avLst>
          </a:prstGeom>
          <a:solidFill>
            <a:srgbClr val="FAFAFA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3255264" y="3172968"/>
            <a:ext cx="8961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b="1" spc="100" kern="0" dirty="0">
                <a:solidFill>
                  <a:srgbClr val="F55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LUNCHTIME</a:t>
            </a:r>
            <a:endParaRPr lang="en-US" sz="450" dirty="0"/>
          </a:p>
        </p:txBody>
      </p:sp>
      <p:sp>
        <p:nvSpPr>
          <p:cNvPr id="71" name="Text 69"/>
          <p:cNvSpPr/>
          <p:nvPr/>
        </p:nvSpPr>
        <p:spPr>
          <a:xfrm>
            <a:off x="3255264" y="3291840"/>
            <a:ext cx="8961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Lunch deals near you</a:t>
            </a:r>
            <a:endParaRPr lang="en-US" sz="500" dirty="0"/>
          </a:p>
        </p:txBody>
      </p:sp>
      <p:sp>
        <p:nvSpPr>
          <p:cNvPr id="72" name="Shape 70"/>
          <p:cNvSpPr/>
          <p:nvPr/>
        </p:nvSpPr>
        <p:spPr>
          <a:xfrm>
            <a:off x="3200400" y="3493008"/>
            <a:ext cx="1005840" cy="256032"/>
          </a:xfrm>
          <a:prstGeom prst="roundRect">
            <a:avLst>
              <a:gd name="adj" fmla="val 17857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200400" y="3493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ride  ›</a:t>
            </a:r>
            <a:endParaRPr lang="en-US" sz="600" dirty="0"/>
          </a:p>
        </p:txBody>
      </p:sp>
      <p:sp>
        <p:nvSpPr>
          <p:cNvPr id="74" name="Text 72"/>
          <p:cNvSpPr/>
          <p:nvPr/>
        </p:nvSpPr>
        <p:spPr>
          <a:xfrm>
            <a:off x="3054096" y="405993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Rides Home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4398264" y="1554480"/>
            <a:ext cx="1298448" cy="2468880"/>
          </a:xfrm>
          <a:prstGeom prst="roundRect">
            <a:avLst>
              <a:gd name="adj" fmla="val 14085"/>
            </a:avLst>
          </a:prstGeom>
          <a:solidFill>
            <a:srgbClr val="0A0420"/>
          </a:solidFill>
          <a:ln w="12700">
            <a:solidFill>
              <a:srgbClr val="8E2DE2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4453128" y="1627632"/>
            <a:ext cx="1188720" cy="2322576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4544568" y="1719072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</a:t>
            </a:r>
            <a:endParaRPr lang="en-US" sz="700" dirty="0"/>
          </a:p>
        </p:txBody>
      </p:sp>
      <p:sp>
        <p:nvSpPr>
          <p:cNvPr id="78" name="Text 76"/>
          <p:cNvSpPr/>
          <p:nvPr/>
        </p:nvSpPr>
        <p:spPr>
          <a:xfrm>
            <a:off x="4910328" y="1719072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544568" y="1993392"/>
            <a:ext cx="1005840" cy="1828800"/>
          </a:xfrm>
          <a:prstGeom prst="roundRect">
            <a:avLst>
              <a:gd name="adj" fmla="val 4545"/>
            </a:avLst>
          </a:prstGeom>
          <a:solidFill>
            <a:srgbClr val="EAF3FF"/>
          </a:solidFill>
          <a:ln w="12700">
            <a:solidFill>
              <a:srgbClr val="EAF3FF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4617720" y="2084832"/>
            <a:ext cx="457200" cy="201168"/>
          </a:xfrm>
          <a:prstGeom prst="roundRect">
            <a:avLst>
              <a:gd name="adj" fmla="val 45455"/>
            </a:avLst>
          </a:prstGeom>
          <a:solidFill>
            <a:srgbClr val="B6CFFF"/>
          </a:solidFill>
          <a:ln w="12700">
            <a:solidFill>
              <a:srgbClr val="B6CF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617720" y="2084832"/>
            <a:ext cx="457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Trip</a:t>
            </a:r>
            <a:endParaRPr lang="en-US" sz="500" dirty="0"/>
          </a:p>
        </p:txBody>
      </p:sp>
      <p:sp>
        <p:nvSpPr>
          <p:cNvPr id="82" name="Text 80"/>
          <p:cNvSpPr/>
          <p:nvPr/>
        </p:nvSpPr>
        <p:spPr>
          <a:xfrm>
            <a:off x="5093208" y="2084832"/>
            <a:ext cx="411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Way</a:t>
            </a:r>
            <a:endParaRPr lang="en-US" sz="500" dirty="0"/>
          </a:p>
        </p:txBody>
      </p:sp>
      <p:sp>
        <p:nvSpPr>
          <p:cNvPr id="83" name="Text 81"/>
          <p:cNvSpPr/>
          <p:nvPr/>
        </p:nvSpPr>
        <p:spPr>
          <a:xfrm>
            <a:off x="4617720" y="2304288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 *</a:t>
            </a:r>
            <a:endParaRPr lang="en-US" sz="450" dirty="0"/>
          </a:p>
        </p:txBody>
      </p:sp>
      <p:sp>
        <p:nvSpPr>
          <p:cNvPr id="84" name="Shape 82"/>
          <p:cNvSpPr/>
          <p:nvPr/>
        </p:nvSpPr>
        <p:spPr>
          <a:xfrm>
            <a:off x="4617720" y="2414016"/>
            <a:ext cx="859536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4672584" y="2414016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where?</a:t>
            </a:r>
            <a:endParaRPr lang="en-US" sz="450" dirty="0"/>
          </a:p>
        </p:txBody>
      </p:sp>
      <p:sp>
        <p:nvSpPr>
          <p:cNvPr id="86" name="Text 84"/>
          <p:cNvSpPr/>
          <p:nvPr/>
        </p:nvSpPr>
        <p:spPr>
          <a:xfrm>
            <a:off x="4617720" y="2633472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 *</a:t>
            </a:r>
            <a:endParaRPr lang="en-US" sz="450" dirty="0"/>
          </a:p>
        </p:txBody>
      </p:sp>
      <p:sp>
        <p:nvSpPr>
          <p:cNvPr id="87" name="Shape 85"/>
          <p:cNvSpPr/>
          <p:nvPr/>
        </p:nvSpPr>
        <p:spPr>
          <a:xfrm>
            <a:off x="4617720" y="2743200"/>
            <a:ext cx="859536" cy="201168"/>
          </a:xfrm>
          <a:prstGeom prst="roundRect">
            <a:avLst>
              <a:gd name="adj" fmla="val 22727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4672584" y="2743200"/>
            <a:ext cx="804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where?</a:t>
            </a:r>
            <a:endParaRPr lang="en-US" sz="450" dirty="0"/>
          </a:p>
        </p:txBody>
      </p:sp>
      <p:sp>
        <p:nvSpPr>
          <p:cNvPr id="89" name="Text 87"/>
          <p:cNvSpPr/>
          <p:nvPr/>
        </p:nvSpPr>
        <p:spPr>
          <a:xfrm>
            <a:off x="4617720" y="3108960"/>
            <a:ext cx="859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 &amp; Return</a:t>
            </a:r>
            <a:endParaRPr lang="en-US" sz="450" dirty="0"/>
          </a:p>
        </p:txBody>
      </p:sp>
      <p:sp>
        <p:nvSpPr>
          <p:cNvPr id="90" name="Shape 88"/>
          <p:cNvSpPr/>
          <p:nvPr/>
        </p:nvSpPr>
        <p:spPr>
          <a:xfrm>
            <a:off x="4617720" y="3236976"/>
            <a:ext cx="402336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617720" y="3273552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</a:t>
            </a:r>
            <a:endParaRPr lang="en-US" sz="400" dirty="0"/>
          </a:p>
        </p:txBody>
      </p:sp>
      <p:sp>
        <p:nvSpPr>
          <p:cNvPr id="92" name="Text 90"/>
          <p:cNvSpPr/>
          <p:nvPr/>
        </p:nvSpPr>
        <p:spPr>
          <a:xfrm>
            <a:off x="4617720" y="3383280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date</a:t>
            </a:r>
            <a:endParaRPr lang="en-US" sz="450" dirty="0"/>
          </a:p>
        </p:txBody>
      </p:sp>
      <p:sp>
        <p:nvSpPr>
          <p:cNvPr id="93" name="Shape 91"/>
          <p:cNvSpPr/>
          <p:nvPr/>
        </p:nvSpPr>
        <p:spPr>
          <a:xfrm>
            <a:off x="5074920" y="3236976"/>
            <a:ext cx="402336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5074920" y="3273552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" b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</a:t>
            </a:r>
            <a:endParaRPr lang="en-US" sz="400" dirty="0"/>
          </a:p>
        </p:txBody>
      </p:sp>
      <p:sp>
        <p:nvSpPr>
          <p:cNvPr id="95" name="Text 93"/>
          <p:cNvSpPr/>
          <p:nvPr/>
        </p:nvSpPr>
        <p:spPr>
          <a:xfrm>
            <a:off x="5074920" y="3383280"/>
            <a:ext cx="40233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date</a:t>
            </a:r>
            <a:endParaRPr lang="en-US" sz="450" dirty="0"/>
          </a:p>
        </p:txBody>
      </p:sp>
      <p:sp>
        <p:nvSpPr>
          <p:cNvPr id="96" name="Shape 94"/>
          <p:cNvSpPr/>
          <p:nvPr/>
        </p:nvSpPr>
        <p:spPr>
          <a:xfrm>
            <a:off x="4617720" y="3602736"/>
            <a:ext cx="859536" cy="237744"/>
          </a:xfrm>
          <a:prstGeom prst="roundRect">
            <a:avLst>
              <a:gd name="adj" fmla="val 50000"/>
            </a:avLst>
          </a:prstGeom>
          <a:solidFill>
            <a:srgbClr val="8FA8FF"/>
          </a:solidFill>
          <a:ln w="12700">
            <a:solidFill>
              <a:srgbClr val="8FA8FF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617720" y="3602736"/>
            <a:ext cx="8595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Flights</a:t>
            </a:r>
            <a:endParaRPr lang="en-US" sz="600" dirty="0"/>
          </a:p>
        </p:txBody>
      </p:sp>
      <p:sp>
        <p:nvSpPr>
          <p:cNvPr id="98" name="Text 96"/>
          <p:cNvSpPr/>
          <p:nvPr/>
        </p:nvSpPr>
        <p:spPr>
          <a:xfrm>
            <a:off x="4398264" y="405993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Flights</a:t>
            </a:r>
            <a:endParaRPr lang="en-US" sz="900" dirty="0"/>
          </a:p>
        </p:txBody>
      </p:sp>
      <p:sp>
        <p:nvSpPr>
          <p:cNvPr id="99" name="Shape 97"/>
          <p:cNvSpPr/>
          <p:nvPr/>
        </p:nvSpPr>
        <p:spPr>
          <a:xfrm>
            <a:off x="5742432" y="1554480"/>
            <a:ext cx="1298448" cy="2468880"/>
          </a:xfrm>
          <a:prstGeom prst="roundRect">
            <a:avLst>
              <a:gd name="adj" fmla="val 14085"/>
            </a:avLst>
          </a:prstGeom>
          <a:solidFill>
            <a:srgbClr val="0A0420"/>
          </a:solidFill>
          <a:ln w="12700">
            <a:solidFill>
              <a:srgbClr val="8E2DE2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100" name="Shape 98"/>
          <p:cNvSpPr/>
          <p:nvPr/>
        </p:nvSpPr>
        <p:spPr>
          <a:xfrm>
            <a:off x="5797296" y="1627632"/>
            <a:ext cx="1188720" cy="2322576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797296" y="1627632"/>
            <a:ext cx="1188720" cy="868680"/>
          </a:xfrm>
          <a:prstGeom prst="roundRect">
            <a:avLst/>
          </a:prstGeom>
          <a:solidFill>
            <a:srgbClr val="8B4F2C"/>
          </a:solidFill>
          <a:ln w="12700">
            <a:solidFill>
              <a:srgbClr val="8B4F2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797296" y="2084832"/>
            <a:ext cx="1188720" cy="411480"/>
          </a:xfrm>
          <a:prstGeom prst="rect">
            <a:avLst/>
          </a:prstGeom>
          <a:solidFill>
            <a:srgbClr val="C77B4A"/>
          </a:solidFill>
          <a:ln w="12700">
            <a:solidFill>
              <a:srgbClr val="C77B4A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5888736" y="1737360"/>
            <a:ext cx="201168" cy="201168"/>
          </a:xfrm>
          <a:prstGeom prst="ellipse">
            <a:avLst/>
          </a:prstGeom>
          <a:solidFill>
            <a:srgbClr val="000000">
              <a:alpha val="50000"/>
            </a:srgbClr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888736" y="17373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‹</a:t>
            </a:r>
            <a:endParaRPr lang="en-US" sz="900" dirty="0"/>
          </a:p>
        </p:txBody>
      </p:sp>
      <p:sp>
        <p:nvSpPr>
          <p:cNvPr id="105" name="Text 103"/>
          <p:cNvSpPr/>
          <p:nvPr/>
        </p:nvSpPr>
        <p:spPr>
          <a:xfrm>
            <a:off x="6126480" y="1755648"/>
            <a:ext cx="7680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 &amp; Resorts</a:t>
            </a:r>
            <a:endParaRPr lang="en-US" sz="600" dirty="0"/>
          </a:p>
        </p:txBody>
      </p:sp>
      <p:sp>
        <p:nvSpPr>
          <p:cNvPr id="106" name="Text 104"/>
          <p:cNvSpPr/>
          <p:nvPr/>
        </p:nvSpPr>
        <p:spPr>
          <a:xfrm>
            <a:off x="5888736" y="213055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 your perfect stay</a:t>
            </a:r>
            <a:endParaRPr lang="en-US" sz="700" dirty="0"/>
          </a:p>
        </p:txBody>
      </p:sp>
      <p:sp>
        <p:nvSpPr>
          <p:cNvPr id="107" name="Text 105"/>
          <p:cNvSpPr/>
          <p:nvPr/>
        </p:nvSpPr>
        <p:spPr>
          <a:xfrm>
            <a:off x="5888736" y="231343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 &amp; resorts across Cambodia</a:t>
            </a:r>
            <a:endParaRPr lang="en-US" sz="450" dirty="0"/>
          </a:p>
        </p:txBody>
      </p:sp>
      <p:sp>
        <p:nvSpPr>
          <p:cNvPr id="108" name="Shape 106"/>
          <p:cNvSpPr/>
          <p:nvPr/>
        </p:nvSpPr>
        <p:spPr>
          <a:xfrm>
            <a:off x="5888736" y="2587752"/>
            <a:ext cx="1005840" cy="21945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961888" y="2587752"/>
            <a:ext cx="8595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city, hotel name…</a:t>
            </a:r>
            <a:endParaRPr lang="en-US" sz="450" dirty="0"/>
          </a:p>
        </p:txBody>
      </p:sp>
      <p:sp>
        <p:nvSpPr>
          <p:cNvPr id="110" name="Shape 108"/>
          <p:cNvSpPr/>
          <p:nvPr/>
        </p:nvSpPr>
        <p:spPr>
          <a:xfrm>
            <a:off x="5888736" y="2871216"/>
            <a:ext cx="47548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888736" y="2907792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NIGHT</a:t>
            </a:r>
            <a:endParaRPr lang="en-US" sz="400" dirty="0"/>
          </a:p>
        </p:txBody>
      </p:sp>
      <p:sp>
        <p:nvSpPr>
          <p:cNvPr id="112" name="Text 110"/>
          <p:cNvSpPr/>
          <p:nvPr/>
        </p:nvSpPr>
        <p:spPr>
          <a:xfrm>
            <a:off x="5888736" y="30175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4 – May 5</a:t>
            </a:r>
            <a:endParaRPr lang="en-US" sz="450" dirty="0"/>
          </a:p>
        </p:txBody>
      </p:sp>
      <p:sp>
        <p:nvSpPr>
          <p:cNvPr id="113" name="Shape 111"/>
          <p:cNvSpPr/>
          <p:nvPr/>
        </p:nvSpPr>
        <p:spPr>
          <a:xfrm>
            <a:off x="6419088" y="2871216"/>
            <a:ext cx="475488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419088" y="2907792"/>
            <a:ext cx="47548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GUESTS</a:t>
            </a:r>
            <a:endParaRPr lang="en-US" sz="400" dirty="0"/>
          </a:p>
        </p:txBody>
      </p:sp>
      <p:sp>
        <p:nvSpPr>
          <p:cNvPr id="115" name="Text 113"/>
          <p:cNvSpPr/>
          <p:nvPr/>
        </p:nvSpPr>
        <p:spPr>
          <a:xfrm>
            <a:off x="6419088" y="3017520"/>
            <a:ext cx="4754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guests · 1 room</a:t>
            </a:r>
            <a:endParaRPr lang="en-US" sz="450" dirty="0"/>
          </a:p>
        </p:txBody>
      </p:sp>
      <p:sp>
        <p:nvSpPr>
          <p:cNvPr id="116" name="Text 114"/>
          <p:cNvSpPr/>
          <p:nvPr/>
        </p:nvSpPr>
        <p:spPr>
          <a:xfrm>
            <a:off x="5888736" y="325526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 destinations</a:t>
            </a:r>
            <a:endParaRPr lang="en-US" sz="500" dirty="0"/>
          </a:p>
        </p:txBody>
      </p:sp>
      <p:sp>
        <p:nvSpPr>
          <p:cNvPr id="117" name="Shape 115"/>
          <p:cNvSpPr/>
          <p:nvPr/>
        </p:nvSpPr>
        <p:spPr>
          <a:xfrm>
            <a:off x="5888736" y="3419856"/>
            <a:ext cx="466344" cy="384048"/>
          </a:xfrm>
          <a:prstGeom prst="roundRect">
            <a:avLst>
              <a:gd name="adj" fmla="val 11905"/>
            </a:avLst>
          </a:prstGeom>
          <a:solidFill>
            <a:srgbClr val="C77B4A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5934456" y="363931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Phnom Penh</a:t>
            </a:r>
            <a:endParaRPr lang="en-US" sz="450" dirty="0"/>
          </a:p>
        </p:txBody>
      </p:sp>
      <p:sp>
        <p:nvSpPr>
          <p:cNvPr id="119" name="Shape 117"/>
          <p:cNvSpPr/>
          <p:nvPr/>
        </p:nvSpPr>
        <p:spPr>
          <a:xfrm>
            <a:off x="6428232" y="3419856"/>
            <a:ext cx="466344" cy="384048"/>
          </a:xfrm>
          <a:prstGeom prst="roundRect">
            <a:avLst>
              <a:gd name="adj" fmla="val 11905"/>
            </a:avLst>
          </a:prstGeom>
          <a:solidFill>
            <a:srgbClr val="5B3A2C"/>
          </a:solidFill>
          <a:ln w="12700">
            <a:solidFill>
              <a:srgbClr val="888888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6473952" y="3639312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Reap</a:t>
            </a:r>
            <a:endParaRPr lang="en-US" sz="450" dirty="0"/>
          </a:p>
        </p:txBody>
      </p:sp>
      <p:sp>
        <p:nvSpPr>
          <p:cNvPr id="121" name="Text 119"/>
          <p:cNvSpPr/>
          <p:nvPr/>
        </p:nvSpPr>
        <p:spPr>
          <a:xfrm>
            <a:off x="5742432" y="405993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7086600" y="1554480"/>
            <a:ext cx="1298448" cy="2468880"/>
          </a:xfrm>
          <a:prstGeom prst="roundRect">
            <a:avLst>
              <a:gd name="adj" fmla="val 14085"/>
            </a:avLst>
          </a:prstGeom>
          <a:solidFill>
            <a:srgbClr val="0A0420"/>
          </a:solidFill>
          <a:ln w="12700">
            <a:solidFill>
              <a:srgbClr val="8E2DE2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123" name="Shape 121"/>
          <p:cNvSpPr/>
          <p:nvPr/>
        </p:nvSpPr>
        <p:spPr>
          <a:xfrm>
            <a:off x="7141464" y="1627632"/>
            <a:ext cx="1188720" cy="2322576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232904" y="17190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800" dirty="0"/>
          </a:p>
        </p:txBody>
      </p:sp>
      <p:sp>
        <p:nvSpPr>
          <p:cNvPr id="125" name="Shape 123"/>
          <p:cNvSpPr/>
          <p:nvPr/>
        </p:nvSpPr>
        <p:spPr>
          <a:xfrm>
            <a:off x="7232904" y="1993392"/>
            <a:ext cx="292608" cy="292608"/>
          </a:xfrm>
          <a:prstGeom prst="ellipse">
            <a:avLst/>
          </a:prstGeom>
          <a:solidFill>
            <a:srgbClr val="F5576C"/>
          </a:solidFill>
          <a:ln w="12700">
            <a:solidFill>
              <a:srgbClr val="F5576C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7232904" y="19933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</a:t>
            </a:r>
            <a:endParaRPr lang="en-US" sz="1100" dirty="0"/>
          </a:p>
        </p:txBody>
      </p:sp>
      <p:sp>
        <p:nvSpPr>
          <p:cNvPr id="127" name="Text 125"/>
          <p:cNvSpPr/>
          <p:nvPr/>
        </p:nvSpPr>
        <p:spPr>
          <a:xfrm>
            <a:off x="7196328" y="2304288"/>
            <a:ext cx="36576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story</a:t>
            </a:r>
            <a:endParaRPr lang="en-US" sz="450" dirty="0"/>
          </a:p>
        </p:txBody>
      </p:sp>
      <p:sp>
        <p:nvSpPr>
          <p:cNvPr id="128" name="Shape 126"/>
          <p:cNvSpPr/>
          <p:nvPr/>
        </p:nvSpPr>
        <p:spPr>
          <a:xfrm>
            <a:off x="7232904" y="2487168"/>
            <a:ext cx="1005840" cy="201168"/>
          </a:xfrm>
          <a:prstGeom prst="roundRect">
            <a:avLst>
              <a:gd name="adj" fmla="val 45455"/>
            </a:avLst>
          </a:prstGeom>
          <a:solidFill>
            <a:srgbClr val="F5F5F5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7306056" y="2487168"/>
            <a:ext cx="8595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conversations…</a:t>
            </a:r>
            <a:endParaRPr lang="en-US" sz="450" dirty="0"/>
          </a:p>
        </p:txBody>
      </p:sp>
      <p:sp>
        <p:nvSpPr>
          <p:cNvPr id="130" name="Shape 128"/>
          <p:cNvSpPr/>
          <p:nvPr/>
        </p:nvSpPr>
        <p:spPr>
          <a:xfrm>
            <a:off x="7232904" y="2743200"/>
            <a:ext cx="292608" cy="164592"/>
          </a:xfrm>
          <a:prstGeom prst="roundRect">
            <a:avLst>
              <a:gd name="adj" fmla="val 50000"/>
            </a:avLst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7232904" y="2743200"/>
            <a:ext cx="292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</a:t>
            </a:r>
            <a:endParaRPr lang="en-US" sz="400" dirty="0"/>
          </a:p>
        </p:txBody>
      </p:sp>
      <p:sp>
        <p:nvSpPr>
          <p:cNvPr id="132" name="Shape 130"/>
          <p:cNvSpPr/>
          <p:nvPr/>
        </p:nvSpPr>
        <p:spPr>
          <a:xfrm>
            <a:off x="7562088" y="2743200"/>
            <a:ext cx="420624" cy="164592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7562088" y="274320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Unread</a:t>
            </a:r>
            <a:endParaRPr lang="en-US" sz="400" dirty="0"/>
          </a:p>
        </p:txBody>
      </p:sp>
      <p:sp>
        <p:nvSpPr>
          <p:cNvPr id="134" name="Shape 132"/>
          <p:cNvSpPr/>
          <p:nvPr/>
        </p:nvSpPr>
        <p:spPr>
          <a:xfrm>
            <a:off x="8019288" y="2743200"/>
            <a:ext cx="420624" cy="164592"/>
          </a:xfrm>
          <a:prstGeom prst="roundRect">
            <a:avLst>
              <a:gd name="adj" fmla="val 50000"/>
            </a:avLst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8019288" y="2743200"/>
            <a:ext cx="4206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</a:t>
            </a:r>
            <a:endParaRPr lang="en-US" sz="400" dirty="0"/>
          </a:p>
        </p:txBody>
      </p:sp>
      <p:sp>
        <p:nvSpPr>
          <p:cNvPr id="136" name="Shape 134"/>
          <p:cNvSpPr/>
          <p:nvPr/>
        </p:nvSpPr>
        <p:spPr>
          <a:xfrm>
            <a:off x="7232904" y="2999232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7525512" y="2999232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Messages</a:t>
            </a:r>
            <a:endParaRPr lang="en-US" sz="500" dirty="0"/>
          </a:p>
        </p:txBody>
      </p:sp>
      <p:sp>
        <p:nvSpPr>
          <p:cNvPr id="138" name="Text 136"/>
          <p:cNvSpPr/>
          <p:nvPr/>
        </p:nvSpPr>
        <p:spPr>
          <a:xfrm>
            <a:off x="7525512" y="3127248"/>
            <a:ext cx="731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&amp; reminders</a:t>
            </a:r>
            <a:endParaRPr lang="en-US" sz="400" dirty="0"/>
          </a:p>
        </p:txBody>
      </p:sp>
      <p:sp>
        <p:nvSpPr>
          <p:cNvPr id="139" name="Shape 137"/>
          <p:cNvSpPr/>
          <p:nvPr/>
        </p:nvSpPr>
        <p:spPr>
          <a:xfrm>
            <a:off x="7232904" y="3328416"/>
            <a:ext cx="256032" cy="256032"/>
          </a:xfrm>
          <a:prstGeom prst="ellipse">
            <a:avLst/>
          </a:prstGeom>
          <a:solidFill>
            <a:srgbClr val="8B5A4A"/>
          </a:solidFill>
          <a:ln w="12700">
            <a:solidFill>
              <a:srgbClr val="8B5A4A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7525512" y="3328416"/>
            <a:ext cx="731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Thai</a:t>
            </a:r>
            <a:endParaRPr lang="en-US" sz="500" dirty="0"/>
          </a:p>
        </p:txBody>
      </p:sp>
      <p:sp>
        <p:nvSpPr>
          <p:cNvPr id="141" name="Text 139"/>
          <p:cNvSpPr/>
          <p:nvPr/>
        </p:nvSpPr>
        <p:spPr>
          <a:xfrm>
            <a:off x="7525512" y="3456432"/>
            <a:ext cx="7315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Sticker</a:t>
            </a:r>
            <a:endParaRPr lang="en-US" sz="400" dirty="0"/>
          </a:p>
        </p:txBody>
      </p:sp>
      <p:sp>
        <p:nvSpPr>
          <p:cNvPr id="142" name="Text 140"/>
          <p:cNvSpPr/>
          <p:nvPr/>
        </p:nvSpPr>
        <p:spPr>
          <a:xfrm>
            <a:off x="7872984" y="3328416"/>
            <a:ext cx="3657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Yesterday</a:t>
            </a:r>
            <a:endParaRPr lang="en-US" sz="400" dirty="0"/>
          </a:p>
        </p:txBody>
      </p:sp>
      <p:sp>
        <p:nvSpPr>
          <p:cNvPr id="143" name="Text 141"/>
          <p:cNvSpPr/>
          <p:nvPr/>
        </p:nvSpPr>
        <p:spPr>
          <a:xfrm>
            <a:off x="7086600" y="405993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900" dirty="0"/>
          </a:p>
        </p:txBody>
      </p:sp>
      <p:sp>
        <p:nvSpPr>
          <p:cNvPr id="144" name="Shape 142"/>
          <p:cNvSpPr/>
          <p:nvPr/>
        </p:nvSpPr>
        <p:spPr>
          <a:xfrm>
            <a:off x="457200" y="4297680"/>
            <a:ext cx="8229600" cy="502920"/>
          </a:xfrm>
          <a:prstGeom prst="roundRect">
            <a:avLst>
              <a:gd name="adj" fmla="val 21818"/>
            </a:avLst>
          </a:prstGeom>
          <a:solidFill>
            <a:srgbClr val="F5576C"/>
          </a:solidFill>
          <a:ln w="12700">
            <a:solidFill>
              <a:srgbClr val="F5576C"/>
            </a:solidFill>
            <a:prstDash val="solid"/>
          </a:ln>
          <a:effectLst>
            <a:outerShdw sx="100000" sy="100000" kx="0" ky="0" algn="bl" rotWithShape="0" blurRad="279400" dist="50800" dir="5400000">
              <a:srgbClr val="F5576C">
                <a:alpha val="35000"/>
              </a:srgbClr>
            </a:outerShdw>
          </a:effectLst>
        </p:spPr>
      </p:sp>
      <p:sp>
        <p:nvSpPr>
          <p:cNvPr id="145" name="Text 143"/>
          <p:cNvSpPr/>
          <p:nvPr/>
        </p:nvSpPr>
        <p:spPr>
          <a:xfrm>
            <a:off x="457200" y="42976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 @zivoplatform  ·  Koh Sdach Resort  ·  PNH ride map  ·  Daily streak coins  ·  EN + KM  ·  500+ airlines</a:t>
            </a:r>
            <a:endParaRPr lang="en-US" sz="1100" dirty="0"/>
          </a:p>
        </p:txBody>
      </p:sp>
      <p:sp>
        <p:nvSpPr>
          <p:cNvPr id="146" name="Text 144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 •  Super-App Platform</a:t>
            </a:r>
            <a:endParaRPr lang="en-US" sz="900" dirty="0"/>
          </a:p>
        </p:txBody>
      </p:sp>
      <p:sp>
        <p:nvSpPr>
          <p:cNvPr id="147" name="Text 145"/>
          <p:cNvSpPr/>
          <p:nvPr/>
        </p:nvSpPr>
        <p:spPr>
          <a:xfrm>
            <a:off x="795528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8E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26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914400"/>
            <a:ext cx="3200400" cy="3200400"/>
          </a:xfrm>
          <a:prstGeom prst="ellipse">
            <a:avLst/>
          </a:prstGeom>
          <a:solidFill>
            <a:srgbClr val="F093FB">
              <a:alpha val="20000"/>
            </a:srgbClr>
          </a:solidFill>
          <a:ln w="12700">
            <a:solidFill>
              <a:srgbClr val="F093F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097280" y="3840480"/>
            <a:ext cx="2743200" cy="2743200"/>
          </a:xfrm>
          <a:prstGeom prst="ellipse">
            <a:avLst/>
          </a:prstGeom>
          <a:solidFill>
            <a:srgbClr val="F5576C">
              <a:alpha val="15000"/>
            </a:srgbClr>
          </a:solidFill>
          <a:ln w="12700">
            <a:solidFill>
              <a:srgbClr val="F5576C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57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BEYOND THE APP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12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also run the back-office.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for users. Web dashboard for businesses. Same wallet underneath.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554480"/>
            <a:ext cx="512064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52400" dist="25400" dir="5400000">
              <a:srgbClr val="6A1B9A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54480"/>
            <a:ext cx="5120640" cy="228600"/>
          </a:xfrm>
          <a:prstGeom prst="rect">
            <a:avLst/>
          </a:prstGeom>
          <a:solidFill>
            <a:srgbClr val="F5F5F5"/>
          </a:solidFill>
          <a:ln w="12700">
            <a:solidFill>
              <a:srgbClr val="F5F5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618488"/>
            <a:ext cx="91440" cy="91440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" y="161848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1248" y="1618488"/>
            <a:ext cx="91440" cy="9144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05840" y="1600200"/>
            <a:ext cx="4480560" cy="137160"/>
          </a:xfrm>
          <a:prstGeom prst="roundRect">
            <a:avLst>
              <a:gd name="adj" fmla="val 33333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1600200"/>
            <a:ext cx="4389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zivo.com / merchant / koh-sdach-resort-by-ehm</a:t>
            </a:r>
            <a:endParaRPr lang="en-US" sz="600" dirty="0"/>
          </a:p>
        </p:txBody>
      </p:sp>
      <p:sp>
        <p:nvSpPr>
          <p:cNvPr id="14" name="Shape 12"/>
          <p:cNvSpPr/>
          <p:nvPr/>
        </p:nvSpPr>
        <p:spPr>
          <a:xfrm>
            <a:off x="457200" y="1783080"/>
            <a:ext cx="1371600" cy="2514600"/>
          </a:xfrm>
          <a:prstGeom prst="rect">
            <a:avLst/>
          </a:prstGeom>
          <a:solidFill>
            <a:srgbClr val="FAFAFA"/>
          </a:solidFill>
          <a:ln w="12700">
            <a:solidFill>
              <a:srgbClr val="FAFAF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18745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8FBFE0"/>
          </a:solidFill>
          <a:ln w="12700">
            <a:solidFill>
              <a:srgbClr val="8FBF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7824" y="18745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 Sdach Resort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877824" y="2029968"/>
            <a:ext cx="914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CBD7322B460</a:t>
            </a:r>
            <a:endParaRPr lang="en-US" sz="500" dirty="0"/>
          </a:p>
        </p:txBody>
      </p:sp>
      <p:sp>
        <p:nvSpPr>
          <p:cNvPr id="18" name="Text 16"/>
          <p:cNvSpPr/>
          <p:nvPr/>
        </p:nvSpPr>
        <p:spPr>
          <a:xfrm>
            <a:off x="594360" y="2286000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Policies &amp; Rules</a:t>
            </a:r>
            <a:endParaRPr lang="en-US" sz="520" dirty="0"/>
          </a:p>
        </p:txBody>
      </p:sp>
      <p:sp>
        <p:nvSpPr>
          <p:cNvPr id="19" name="Text 17"/>
          <p:cNvSpPr/>
          <p:nvPr/>
        </p:nvSpPr>
        <p:spPr>
          <a:xfrm>
            <a:off x="594360" y="2391156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b="1" spc="1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GROWTH</a:t>
            </a:r>
            <a:endParaRPr lang="en-US" sz="450" dirty="0"/>
          </a:p>
        </p:txBody>
      </p:sp>
      <p:sp>
        <p:nvSpPr>
          <p:cNvPr id="20" name="Text 18"/>
          <p:cNvSpPr/>
          <p:nvPr/>
        </p:nvSpPr>
        <p:spPr>
          <a:xfrm>
            <a:off x="594360" y="2496312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Promotions &amp; Discounts</a:t>
            </a:r>
            <a:endParaRPr lang="en-US" sz="520" dirty="0"/>
          </a:p>
        </p:txBody>
      </p:sp>
      <p:sp>
        <p:nvSpPr>
          <p:cNvPr id="21" name="Text 19"/>
          <p:cNvSpPr/>
          <p:nvPr/>
        </p:nvSpPr>
        <p:spPr>
          <a:xfrm>
            <a:off x="594360" y="2601468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Channel Manager</a:t>
            </a:r>
            <a:endParaRPr lang="en-US" sz="520" dirty="0"/>
          </a:p>
        </p:txBody>
      </p:sp>
      <p:sp>
        <p:nvSpPr>
          <p:cNvPr id="22" name="Text 20"/>
          <p:cNvSpPr/>
          <p:nvPr/>
        </p:nvSpPr>
        <p:spPr>
          <a:xfrm>
            <a:off x="594360" y="2706624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Group Bookings</a:t>
            </a:r>
            <a:endParaRPr lang="en-US" sz="520" dirty="0"/>
          </a:p>
        </p:txBody>
      </p:sp>
      <p:sp>
        <p:nvSpPr>
          <p:cNvPr id="23" name="Text 21"/>
          <p:cNvSpPr/>
          <p:nvPr/>
        </p:nvSpPr>
        <p:spPr>
          <a:xfrm>
            <a:off x="594360" y="2811780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Revenue Manager</a:t>
            </a:r>
            <a:endParaRPr lang="en-US" sz="520" dirty="0"/>
          </a:p>
        </p:txBody>
      </p:sp>
      <p:sp>
        <p:nvSpPr>
          <p:cNvPr id="24" name="Text 22"/>
          <p:cNvSpPr/>
          <p:nvPr/>
        </p:nvSpPr>
        <p:spPr>
          <a:xfrm>
            <a:off x="594360" y="2916936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Dynamic Pricing</a:t>
            </a:r>
            <a:endParaRPr lang="en-US" sz="520" dirty="0"/>
          </a:p>
        </p:txBody>
      </p:sp>
      <p:sp>
        <p:nvSpPr>
          <p:cNvPr id="25" name="Text 23"/>
          <p:cNvSpPr/>
          <p:nvPr/>
        </p:nvSpPr>
        <p:spPr>
          <a:xfrm>
            <a:off x="594360" y="3022092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Guest Notifications</a:t>
            </a:r>
            <a:endParaRPr lang="en-US" sz="520" dirty="0"/>
          </a:p>
        </p:txBody>
      </p:sp>
      <p:sp>
        <p:nvSpPr>
          <p:cNvPr id="26" name="Text 24"/>
          <p:cNvSpPr/>
          <p:nvPr/>
        </p:nvSpPr>
        <p:spPr>
          <a:xfrm>
            <a:off x="594360" y="3127248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Gift Vouchers</a:t>
            </a:r>
            <a:endParaRPr lang="en-US" sz="520" dirty="0"/>
          </a:p>
        </p:txBody>
      </p:sp>
      <p:sp>
        <p:nvSpPr>
          <p:cNvPr id="27" name="Text 25"/>
          <p:cNvSpPr/>
          <p:nvPr/>
        </p:nvSpPr>
        <p:spPr>
          <a:xfrm>
            <a:off x="594360" y="3232404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Payouts &amp; Finance</a:t>
            </a:r>
            <a:endParaRPr lang="en-US" sz="520" dirty="0"/>
          </a:p>
        </p:txBody>
      </p:sp>
      <p:sp>
        <p:nvSpPr>
          <p:cNvPr id="28" name="Text 26"/>
          <p:cNvSpPr/>
          <p:nvPr/>
        </p:nvSpPr>
        <p:spPr>
          <a:xfrm>
            <a:off x="594360" y="3337560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Guest Reviews</a:t>
            </a:r>
            <a:endParaRPr lang="en-US" sz="520" dirty="0"/>
          </a:p>
        </p:txBody>
      </p:sp>
      <p:sp>
        <p:nvSpPr>
          <p:cNvPr id="29" name="Text 27"/>
          <p:cNvSpPr/>
          <p:nvPr/>
        </p:nvSpPr>
        <p:spPr>
          <a:xfrm>
            <a:off x="594360" y="3442716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Reports</a:t>
            </a:r>
            <a:endParaRPr lang="en-US" sz="520" dirty="0"/>
          </a:p>
        </p:txBody>
      </p:sp>
      <p:sp>
        <p:nvSpPr>
          <p:cNvPr id="30" name="Text 28"/>
          <p:cNvSpPr/>
          <p:nvPr/>
        </p:nvSpPr>
        <p:spPr>
          <a:xfrm>
            <a:off x="594360" y="3547872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b="1" spc="100" kern="0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450" dirty="0"/>
          </a:p>
        </p:txBody>
      </p:sp>
      <p:sp>
        <p:nvSpPr>
          <p:cNvPr id="31" name="Text 29"/>
          <p:cNvSpPr/>
          <p:nvPr/>
        </p:nvSpPr>
        <p:spPr>
          <a:xfrm>
            <a:off x="594360" y="3653028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Hotel Staff</a:t>
            </a:r>
            <a:endParaRPr lang="en-US" sz="520" dirty="0"/>
          </a:p>
        </p:txBody>
      </p:sp>
      <p:sp>
        <p:nvSpPr>
          <p:cNvPr id="32" name="Text 30"/>
          <p:cNvSpPr/>
          <p:nvPr/>
        </p:nvSpPr>
        <p:spPr>
          <a:xfrm>
            <a:off x="594360" y="3758184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Shift Handover</a:t>
            </a:r>
            <a:endParaRPr lang="en-US" sz="520" dirty="0"/>
          </a:p>
        </p:txBody>
      </p:sp>
      <p:sp>
        <p:nvSpPr>
          <p:cNvPr id="33" name="Text 31"/>
          <p:cNvSpPr/>
          <p:nvPr/>
        </p:nvSpPr>
        <p:spPr>
          <a:xfrm>
            <a:off x="594360" y="3863340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Guest Folio</a:t>
            </a:r>
            <a:endParaRPr lang="en-US" sz="520" dirty="0"/>
          </a:p>
        </p:txBody>
      </p:sp>
      <p:sp>
        <p:nvSpPr>
          <p:cNvPr id="34" name="Text 32"/>
          <p:cNvSpPr/>
          <p:nvPr/>
        </p:nvSpPr>
        <p:spPr>
          <a:xfrm>
            <a:off x="594360" y="3968496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Customers</a:t>
            </a:r>
            <a:endParaRPr lang="en-US" sz="520" dirty="0"/>
          </a:p>
        </p:txBody>
      </p:sp>
      <p:sp>
        <p:nvSpPr>
          <p:cNvPr id="35" name="Text 33"/>
          <p:cNvSpPr/>
          <p:nvPr/>
        </p:nvSpPr>
        <p:spPr>
          <a:xfrm>
            <a:off x="594360" y="4073652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Marketing &amp; Ads</a:t>
            </a:r>
            <a:endParaRPr lang="en-US" sz="520" dirty="0"/>
          </a:p>
        </p:txBody>
      </p:sp>
      <p:sp>
        <p:nvSpPr>
          <p:cNvPr id="36" name="Text 34"/>
          <p:cNvSpPr/>
          <p:nvPr/>
        </p:nvSpPr>
        <p:spPr>
          <a:xfrm>
            <a:off x="594360" y="4178808"/>
            <a:ext cx="11887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Stream</a:t>
            </a:r>
            <a:endParaRPr lang="en-US" sz="520" dirty="0"/>
          </a:p>
        </p:txBody>
      </p:sp>
      <p:sp>
        <p:nvSpPr>
          <p:cNvPr id="37" name="Shape 35"/>
          <p:cNvSpPr/>
          <p:nvPr/>
        </p:nvSpPr>
        <p:spPr>
          <a:xfrm>
            <a:off x="457200" y="3794760"/>
            <a:ext cx="1371600" cy="502920"/>
          </a:xfrm>
          <a:prstGeom prst="rect">
            <a:avLst/>
          </a:prstGeom>
          <a:solidFill>
            <a:srgbClr val="F0F0F0"/>
          </a:solidFill>
          <a:ln w="12700">
            <a:solidFill>
              <a:srgbClr val="F0F0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48640" y="3840480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 ·  Software &amp; Apps  ·  Back to App  ·  Sign Out</a:t>
            </a:r>
            <a:endParaRPr lang="en-US" sz="500" dirty="0"/>
          </a:p>
        </p:txBody>
      </p:sp>
      <p:sp>
        <p:nvSpPr>
          <p:cNvPr id="39" name="Shape 37"/>
          <p:cNvSpPr/>
          <p:nvPr/>
        </p:nvSpPr>
        <p:spPr>
          <a:xfrm>
            <a:off x="1828800" y="1783080"/>
            <a:ext cx="374904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EEEE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65960" y="1819656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Edit: Koh Sdach Resort by EHM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3886200" y="1837944"/>
            <a:ext cx="457200" cy="164592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86200" y="183794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</a:t>
            </a:r>
            <a:endParaRPr lang="en-US" sz="500" dirty="0"/>
          </a:p>
        </p:txBody>
      </p:sp>
      <p:sp>
        <p:nvSpPr>
          <p:cNvPr id="43" name="Shape 41"/>
          <p:cNvSpPr/>
          <p:nvPr/>
        </p:nvSpPr>
        <p:spPr>
          <a:xfrm>
            <a:off x="4389120" y="1837944"/>
            <a:ext cx="457200" cy="164592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0" y="183794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Chat</a:t>
            </a:r>
            <a:endParaRPr lang="en-US" sz="500" dirty="0"/>
          </a:p>
        </p:txBody>
      </p:sp>
      <p:sp>
        <p:nvSpPr>
          <p:cNvPr id="45" name="Shape 43"/>
          <p:cNvSpPr/>
          <p:nvPr/>
        </p:nvSpPr>
        <p:spPr>
          <a:xfrm>
            <a:off x="4892040" y="1837944"/>
            <a:ext cx="457200" cy="164592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92040" y="1837944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</a:t>
            </a:r>
            <a:endParaRPr lang="en-US" sz="500" dirty="0"/>
          </a:p>
        </p:txBody>
      </p:sp>
      <p:sp>
        <p:nvSpPr>
          <p:cNvPr id="47" name="Shape 45"/>
          <p:cNvSpPr/>
          <p:nvPr/>
        </p:nvSpPr>
        <p:spPr>
          <a:xfrm>
            <a:off x="1965960" y="2148840"/>
            <a:ext cx="3474720" cy="914400"/>
          </a:xfrm>
          <a:prstGeom prst="roundRect">
            <a:avLst>
              <a:gd name="adj" fmla="val 5000"/>
            </a:avLst>
          </a:prstGeom>
          <a:solidFill>
            <a:srgbClr val="5DA8B8"/>
          </a:solidFill>
          <a:ln w="12700">
            <a:solidFill>
              <a:srgbClr val="5DA8B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529584" y="2331720"/>
            <a:ext cx="2084832" cy="640080"/>
          </a:xfrm>
          <a:prstGeom prst="ellipse">
            <a:avLst/>
          </a:prstGeom>
          <a:solidFill>
            <a:srgbClr val="3F8B5E"/>
          </a:solidFill>
          <a:ln w="12700">
            <a:solidFill>
              <a:srgbClr val="3F8B5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965960" y="2834640"/>
            <a:ext cx="3474720" cy="228600"/>
          </a:xfrm>
          <a:prstGeom prst="rect">
            <a:avLst/>
          </a:prstGeom>
          <a:solidFill>
            <a:srgbClr val="D9C9A3"/>
          </a:solidFill>
          <a:ln w="12700">
            <a:solidFill>
              <a:srgbClr val="D9C9A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057400" y="2697480"/>
            <a:ext cx="41148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057400" y="269748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E2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EHM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1965960" y="31546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Koh Sdach Resort by EHM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965960" y="3355848"/>
            <a:ext cx="3474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/koh-sdach-resort-by-ehm  ·  KH</a:t>
            </a:r>
            <a:endParaRPr lang="en-US" sz="500" dirty="0"/>
          </a:p>
        </p:txBody>
      </p:sp>
      <p:sp>
        <p:nvSpPr>
          <p:cNvPr id="54" name="Text 52"/>
          <p:cNvSpPr/>
          <p:nvPr/>
        </p:nvSpPr>
        <p:spPr>
          <a:xfrm>
            <a:off x="1965960" y="3566160"/>
            <a:ext cx="3474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 Images   18/20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1965960" y="3758184"/>
            <a:ext cx="809244" cy="329184"/>
          </a:xfrm>
          <a:prstGeom prst="roundRect">
            <a:avLst>
              <a:gd name="adj" fmla="val 11111"/>
            </a:avLst>
          </a:prstGeom>
          <a:solidFill>
            <a:srgbClr val="F2A65A"/>
          </a:solidFill>
          <a:ln w="12700">
            <a:solidFill>
              <a:srgbClr val="F2A65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848356" y="3758184"/>
            <a:ext cx="809244" cy="329184"/>
          </a:xfrm>
          <a:prstGeom prst="roundRect">
            <a:avLst>
              <a:gd name="adj" fmla="val 11111"/>
            </a:avLst>
          </a:prstGeom>
          <a:solidFill>
            <a:srgbClr val="5C7C9F"/>
          </a:solidFill>
          <a:ln w="12700">
            <a:solidFill>
              <a:srgbClr val="5C7C9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730752" y="3758184"/>
            <a:ext cx="809244" cy="329184"/>
          </a:xfrm>
          <a:prstGeom prst="roundRect">
            <a:avLst>
              <a:gd name="adj" fmla="val 11111"/>
            </a:avLst>
          </a:prstGeom>
          <a:solidFill>
            <a:srgbClr val="7BA17E"/>
          </a:solidFill>
          <a:ln w="12700">
            <a:solidFill>
              <a:srgbClr val="7BA17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613148" y="3758184"/>
            <a:ext cx="809244" cy="329184"/>
          </a:xfrm>
          <a:prstGeom prst="roundRect">
            <a:avLst>
              <a:gd name="adj" fmla="val 11111"/>
            </a:avLst>
          </a:prstGeom>
          <a:solidFill>
            <a:srgbClr val="3D5A71"/>
          </a:solidFill>
          <a:ln w="12700">
            <a:solidFill>
              <a:srgbClr val="3D5A7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7200" y="4343400"/>
            <a:ext cx="5120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Merchant — Resort &amp; Hotel Manager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852160" y="1554480"/>
            <a:ext cx="1417320" cy="1325880"/>
          </a:xfrm>
          <a:prstGeom prst="roundRect">
            <a:avLst>
              <a:gd name="adj" fmla="val 8276"/>
            </a:avLst>
          </a:prstGeom>
          <a:solidFill>
            <a:srgbClr val="0A0420"/>
          </a:solidFill>
          <a:ln w="12700">
            <a:solidFill>
              <a:srgbClr val="8E2DE2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5907024" y="1609344"/>
            <a:ext cx="1307592" cy="1216152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907024" y="1609344"/>
            <a:ext cx="1307592" cy="256032"/>
          </a:xfrm>
          <a:prstGeom prst="roundRect">
            <a:avLst>
              <a:gd name="adj" fmla="val 28571"/>
            </a:avLst>
          </a:prstGeom>
          <a:solidFill>
            <a:srgbClr val="F5576C"/>
          </a:solidFill>
          <a:ln w="12700">
            <a:solidFill>
              <a:srgbClr val="F5576C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907024" y="1773936"/>
            <a:ext cx="1307592" cy="91440"/>
          </a:xfrm>
          <a:prstGeom prst="rect">
            <a:avLst/>
          </a:prstGeom>
          <a:solidFill>
            <a:srgbClr val="F5576C"/>
          </a:solidFill>
          <a:ln w="12700">
            <a:solidFill>
              <a:srgbClr val="F5576C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907024" y="1645920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650" dirty="0"/>
          </a:p>
        </p:txBody>
      </p:sp>
      <p:sp>
        <p:nvSpPr>
          <p:cNvPr id="65" name="Text 63"/>
          <p:cNvSpPr/>
          <p:nvPr/>
        </p:nvSpPr>
        <p:spPr>
          <a:xfrm>
            <a:off x="5980176" y="1920240"/>
            <a:ext cx="116128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500" dirty="0"/>
          </a:p>
        </p:txBody>
      </p:sp>
      <p:sp>
        <p:nvSpPr>
          <p:cNvPr id="66" name="Shape 64"/>
          <p:cNvSpPr/>
          <p:nvPr/>
        </p:nvSpPr>
        <p:spPr>
          <a:xfrm>
            <a:off x="6441948" y="1920240"/>
            <a:ext cx="237744" cy="237744"/>
          </a:xfrm>
          <a:prstGeom prst="roundRect">
            <a:avLst>
              <a:gd name="adj" fmla="val 19231"/>
            </a:avLst>
          </a:prstGeom>
          <a:solidFill>
            <a:srgbClr val="F5576C"/>
          </a:solidFill>
          <a:ln w="12700">
            <a:solidFill>
              <a:srgbClr val="F5576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41948" y="19202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980176" y="2203704"/>
            <a:ext cx="1161288" cy="109728"/>
          </a:xfrm>
          <a:prstGeom prst="roundRect">
            <a:avLst>
              <a:gd name="adj" fmla="val 25000"/>
            </a:avLst>
          </a:prstGeom>
          <a:solidFill>
            <a:srgbClr val="F5F5F5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980176" y="2350008"/>
            <a:ext cx="1161288" cy="109728"/>
          </a:xfrm>
          <a:prstGeom prst="roundRect">
            <a:avLst>
              <a:gd name="adj" fmla="val 25000"/>
            </a:avLst>
          </a:prstGeom>
          <a:solidFill>
            <a:srgbClr val="F5F5F5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5980176" y="2496312"/>
            <a:ext cx="1161288" cy="109728"/>
          </a:xfrm>
          <a:prstGeom prst="roundRect">
            <a:avLst>
              <a:gd name="adj" fmla="val 25000"/>
            </a:avLst>
          </a:prstGeom>
          <a:solidFill>
            <a:srgbClr val="F5F5F5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5980176" y="2688336"/>
            <a:ext cx="387096" cy="146304"/>
          </a:xfrm>
          <a:prstGeom prst="roundRect">
            <a:avLst>
              <a:gd name="adj" fmla="val 18750"/>
            </a:avLst>
          </a:prstGeom>
          <a:solidFill>
            <a:srgbClr val="FFD8A8"/>
          </a:solidFill>
          <a:ln w="12700">
            <a:solidFill>
              <a:srgbClr val="FFD8A8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367272" y="2688336"/>
            <a:ext cx="387096" cy="146304"/>
          </a:xfrm>
          <a:prstGeom prst="rect">
            <a:avLst/>
          </a:prstGeom>
          <a:solidFill>
            <a:srgbClr val="FFB3BA"/>
          </a:solidFill>
          <a:ln w="12700">
            <a:solidFill>
              <a:srgbClr val="FFB3BA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6754368" y="2688336"/>
            <a:ext cx="387096" cy="146304"/>
          </a:xfrm>
          <a:prstGeom prst="roundRect">
            <a:avLst>
              <a:gd name="adj" fmla="val 18750"/>
            </a:avLst>
          </a:prstGeom>
          <a:solidFill>
            <a:srgbClr val="F093FB"/>
          </a:solidFill>
          <a:ln w="12700">
            <a:solidFill>
              <a:srgbClr val="F093F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980176" y="2688336"/>
            <a:ext cx="116128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550" dirty="0"/>
          </a:p>
        </p:txBody>
      </p:sp>
      <p:sp>
        <p:nvSpPr>
          <p:cNvPr id="75" name="Shape 73"/>
          <p:cNvSpPr/>
          <p:nvPr/>
        </p:nvSpPr>
        <p:spPr>
          <a:xfrm>
            <a:off x="7360920" y="1554480"/>
            <a:ext cx="1417320" cy="1325880"/>
          </a:xfrm>
          <a:prstGeom prst="roundRect">
            <a:avLst>
              <a:gd name="adj" fmla="val 8276"/>
            </a:avLst>
          </a:prstGeom>
          <a:solidFill>
            <a:srgbClr val="0A0420"/>
          </a:solidFill>
          <a:ln w="12700">
            <a:solidFill>
              <a:srgbClr val="8E2DE2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7415784" y="1609344"/>
            <a:ext cx="1307592" cy="1216152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415784" y="1609344"/>
            <a:ext cx="1307592" cy="256032"/>
          </a:xfrm>
          <a:prstGeom prst="roundRect">
            <a:avLst>
              <a:gd name="adj" fmla="val 28571"/>
            </a:avLst>
          </a:prstGeom>
          <a:solidFill>
            <a:srgbClr val="8E2DE2"/>
          </a:solidFill>
          <a:ln w="12700">
            <a:solidFill>
              <a:srgbClr val="8E2DE2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7415784" y="1773936"/>
            <a:ext cx="1307592" cy="91440"/>
          </a:xfrm>
          <a:prstGeom prst="rect">
            <a:avLst/>
          </a:prstGeom>
          <a:solidFill>
            <a:srgbClr val="8E2DE2"/>
          </a:solidFill>
          <a:ln w="12700">
            <a:solidFill>
              <a:srgbClr val="8E2DE2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7415784" y="1645920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650" dirty="0"/>
          </a:p>
        </p:txBody>
      </p:sp>
      <p:sp>
        <p:nvSpPr>
          <p:cNvPr id="80" name="Text 78"/>
          <p:cNvSpPr/>
          <p:nvPr/>
        </p:nvSpPr>
        <p:spPr>
          <a:xfrm>
            <a:off x="7488936" y="1920240"/>
            <a:ext cx="116128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500" dirty="0"/>
          </a:p>
        </p:txBody>
      </p:sp>
      <p:sp>
        <p:nvSpPr>
          <p:cNvPr id="81" name="Shape 79"/>
          <p:cNvSpPr/>
          <p:nvPr/>
        </p:nvSpPr>
        <p:spPr>
          <a:xfrm>
            <a:off x="7507224" y="1920240"/>
            <a:ext cx="365760" cy="365760"/>
          </a:xfrm>
          <a:prstGeom prst="ellipse">
            <a:avLst/>
          </a:prstGeom>
          <a:solidFill>
            <a:srgbClr val="F5576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507224" y="1920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</a:t>
            </a:r>
            <a:endParaRPr lang="en-US" sz="1400" dirty="0"/>
          </a:p>
        </p:txBody>
      </p:sp>
      <p:sp>
        <p:nvSpPr>
          <p:cNvPr id="83" name="Text 81"/>
          <p:cNvSpPr/>
          <p:nvPr/>
        </p:nvSpPr>
        <p:spPr>
          <a:xfrm>
            <a:off x="7507224" y="2322576"/>
            <a:ext cx="11247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</a:t>
            </a:r>
            <a:endParaRPr lang="en-US" sz="700" dirty="0"/>
          </a:p>
        </p:txBody>
      </p:sp>
      <p:sp>
        <p:nvSpPr>
          <p:cNvPr id="84" name="Text 82"/>
          <p:cNvSpPr/>
          <p:nvPr/>
        </p:nvSpPr>
        <p:spPr>
          <a:xfrm>
            <a:off x="7507224" y="2468880"/>
            <a:ext cx="112471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username</a:t>
            </a:r>
            <a:endParaRPr lang="en-US" sz="450" dirty="0"/>
          </a:p>
        </p:txBody>
      </p:sp>
      <p:sp>
        <p:nvSpPr>
          <p:cNvPr id="85" name="Shape 83"/>
          <p:cNvSpPr/>
          <p:nvPr/>
        </p:nvSpPr>
        <p:spPr>
          <a:xfrm>
            <a:off x="7488936" y="2633472"/>
            <a:ext cx="272034" cy="201168"/>
          </a:xfrm>
          <a:prstGeom prst="roundRect">
            <a:avLst>
              <a:gd name="adj" fmla="val 18182"/>
            </a:avLst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7488936" y="2633472"/>
            <a:ext cx="272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</a:t>
            </a:r>
            <a:endParaRPr lang="en-US" sz="450" dirty="0"/>
          </a:p>
        </p:txBody>
      </p:sp>
      <p:sp>
        <p:nvSpPr>
          <p:cNvPr id="87" name="Shape 85"/>
          <p:cNvSpPr/>
          <p:nvPr/>
        </p:nvSpPr>
        <p:spPr>
          <a:xfrm>
            <a:off x="7779258" y="2633472"/>
            <a:ext cx="272034" cy="201168"/>
          </a:xfrm>
          <a:prstGeom prst="roundRect">
            <a:avLst>
              <a:gd name="adj" fmla="val 18182"/>
            </a:avLst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7779258" y="2633472"/>
            <a:ext cx="272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</a:t>
            </a:r>
            <a:endParaRPr lang="en-US" sz="450" dirty="0"/>
          </a:p>
        </p:txBody>
      </p:sp>
      <p:sp>
        <p:nvSpPr>
          <p:cNvPr id="89" name="Shape 87"/>
          <p:cNvSpPr/>
          <p:nvPr/>
        </p:nvSpPr>
        <p:spPr>
          <a:xfrm>
            <a:off x="8069580" y="2633472"/>
            <a:ext cx="272034" cy="201168"/>
          </a:xfrm>
          <a:prstGeom prst="roundRect">
            <a:avLst>
              <a:gd name="adj" fmla="val 18182"/>
            </a:avLst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8069580" y="2633472"/>
            <a:ext cx="272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450" dirty="0"/>
          </a:p>
        </p:txBody>
      </p:sp>
      <p:sp>
        <p:nvSpPr>
          <p:cNvPr id="91" name="Shape 89"/>
          <p:cNvSpPr/>
          <p:nvPr/>
        </p:nvSpPr>
        <p:spPr>
          <a:xfrm>
            <a:off x="8359902" y="2633472"/>
            <a:ext cx="272034" cy="201168"/>
          </a:xfrm>
          <a:prstGeom prst="roundRect">
            <a:avLst>
              <a:gd name="adj" fmla="val 18182"/>
            </a:avLst>
          </a:prstGeom>
          <a:solidFill>
            <a:srgbClr val="FAFAFA"/>
          </a:solidFill>
          <a:ln w="3810">
            <a:solidFill>
              <a:srgbClr val="EEEEEE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8359902" y="2633472"/>
            <a:ext cx="272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5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</a:t>
            </a:r>
            <a:endParaRPr lang="en-US" sz="450" dirty="0"/>
          </a:p>
        </p:txBody>
      </p:sp>
      <p:sp>
        <p:nvSpPr>
          <p:cNvPr id="93" name="Shape 91"/>
          <p:cNvSpPr/>
          <p:nvPr/>
        </p:nvSpPr>
        <p:spPr>
          <a:xfrm>
            <a:off x="5852160" y="3017520"/>
            <a:ext cx="1417320" cy="1325880"/>
          </a:xfrm>
          <a:prstGeom prst="roundRect">
            <a:avLst>
              <a:gd name="adj" fmla="val 8276"/>
            </a:avLst>
          </a:prstGeom>
          <a:solidFill>
            <a:srgbClr val="0A0420"/>
          </a:solidFill>
          <a:ln w="12700">
            <a:solidFill>
              <a:srgbClr val="8E2DE2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5907024" y="3072384"/>
            <a:ext cx="1307592" cy="1216152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5907024" y="3072384"/>
            <a:ext cx="1307592" cy="256032"/>
          </a:xfrm>
          <a:prstGeom prst="roundRect">
            <a:avLst>
              <a:gd name="adj" fmla="val 28571"/>
            </a:avLst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5907024" y="3236976"/>
            <a:ext cx="1307592" cy="91440"/>
          </a:xfrm>
          <a:prstGeom prst="rect">
            <a:avLst/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907024" y="3108960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Ride</a:t>
            </a:r>
            <a:endParaRPr lang="en-US" sz="650" dirty="0"/>
          </a:p>
        </p:txBody>
      </p:sp>
      <p:sp>
        <p:nvSpPr>
          <p:cNvPr id="98" name="Text 96"/>
          <p:cNvSpPr/>
          <p:nvPr/>
        </p:nvSpPr>
        <p:spPr>
          <a:xfrm>
            <a:off x="5980176" y="3383280"/>
            <a:ext cx="116128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500" dirty="0"/>
          </a:p>
        </p:txBody>
      </p:sp>
      <p:sp>
        <p:nvSpPr>
          <p:cNvPr id="99" name="Shape 97"/>
          <p:cNvSpPr/>
          <p:nvPr/>
        </p:nvSpPr>
        <p:spPr>
          <a:xfrm>
            <a:off x="5907024" y="3328416"/>
            <a:ext cx="1307592" cy="75895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6940296" y="3383280"/>
            <a:ext cx="164592" cy="667512"/>
          </a:xfrm>
          <a:prstGeom prst="rect">
            <a:avLst/>
          </a:prstGeom>
          <a:solidFill>
            <a:srgbClr val="B5D6E0"/>
          </a:solidFill>
          <a:ln w="12700">
            <a:solidFill>
              <a:srgbClr val="B5D6E0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5952744" y="3575304"/>
            <a:ext cx="1216152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5952744" y="3849624"/>
            <a:ext cx="1216152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6272784" y="3383280"/>
            <a:ext cx="36576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6432804" y="3712464"/>
            <a:ext cx="256032" cy="25603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432804" y="37124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5980176" y="3995928"/>
            <a:ext cx="1161288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3810">
            <a:solidFill>
              <a:srgbClr val="DDDDDD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980176" y="3995928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destination</a:t>
            </a:r>
            <a:endParaRPr lang="en-US" sz="480" dirty="0"/>
          </a:p>
        </p:txBody>
      </p:sp>
      <p:sp>
        <p:nvSpPr>
          <p:cNvPr id="108" name="Shape 106"/>
          <p:cNvSpPr/>
          <p:nvPr/>
        </p:nvSpPr>
        <p:spPr>
          <a:xfrm>
            <a:off x="7360920" y="3017520"/>
            <a:ext cx="1417320" cy="1325880"/>
          </a:xfrm>
          <a:prstGeom prst="roundRect">
            <a:avLst>
              <a:gd name="adj" fmla="val 8276"/>
            </a:avLst>
          </a:prstGeom>
          <a:solidFill>
            <a:srgbClr val="0A0420"/>
          </a:solidFill>
          <a:ln w="12700">
            <a:solidFill>
              <a:srgbClr val="8E2DE2">
                <a:alpha val="50000"/>
              </a:srgbClr>
            </a:solidFill>
            <a:prstDash val="solid"/>
          </a:ln>
          <a:effectLst>
            <a:outerShdw sx="100000" sy="100000" kx="0" ky="0" algn="bl" rotWithShape="0" blurRad="177800" dist="38100" dir="5400000">
              <a:srgbClr val="120A2A">
                <a:alpha val="18000"/>
              </a:srgbClr>
            </a:outerShdw>
          </a:effectLst>
        </p:spPr>
      </p:sp>
      <p:sp>
        <p:nvSpPr>
          <p:cNvPr id="109" name="Shape 107"/>
          <p:cNvSpPr/>
          <p:nvPr/>
        </p:nvSpPr>
        <p:spPr>
          <a:xfrm>
            <a:off x="7415784" y="3072384"/>
            <a:ext cx="1307592" cy="1216152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7415784" y="3072384"/>
            <a:ext cx="1307592" cy="256032"/>
          </a:xfrm>
          <a:prstGeom prst="roundRect">
            <a:avLst>
              <a:gd name="adj" fmla="val 28571"/>
            </a:avLst>
          </a:prstGeom>
          <a:solidFill>
            <a:srgbClr val="F093FB"/>
          </a:solidFill>
          <a:ln w="12700">
            <a:solidFill>
              <a:srgbClr val="F093FB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7415784" y="3236976"/>
            <a:ext cx="1307592" cy="91440"/>
          </a:xfrm>
          <a:prstGeom prst="rect">
            <a:avLst/>
          </a:prstGeom>
          <a:solidFill>
            <a:srgbClr val="F093FB"/>
          </a:solidFill>
          <a:ln w="12700">
            <a:solidFill>
              <a:srgbClr val="F093FB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7415784" y="3108960"/>
            <a:ext cx="13075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Thai</a:t>
            </a:r>
            <a:endParaRPr lang="en-US" sz="650" dirty="0"/>
          </a:p>
        </p:txBody>
      </p:sp>
      <p:sp>
        <p:nvSpPr>
          <p:cNvPr id="113" name="Text 111"/>
          <p:cNvSpPr/>
          <p:nvPr/>
        </p:nvSpPr>
        <p:spPr>
          <a:xfrm>
            <a:off x="7488936" y="3383280"/>
            <a:ext cx="116128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500" dirty="0"/>
          </a:p>
        </p:txBody>
      </p:sp>
      <p:sp>
        <p:nvSpPr>
          <p:cNvPr id="114" name="Shape 112"/>
          <p:cNvSpPr/>
          <p:nvPr/>
        </p:nvSpPr>
        <p:spPr>
          <a:xfrm>
            <a:off x="7488936" y="3383280"/>
            <a:ext cx="256032" cy="256032"/>
          </a:xfrm>
          <a:prstGeom prst="ellipse">
            <a:avLst/>
          </a:prstGeom>
          <a:solidFill>
            <a:srgbClr val="8B5A4A"/>
          </a:solidFill>
          <a:ln w="12700">
            <a:solidFill>
              <a:srgbClr val="8B5A4A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7781544" y="3401568"/>
            <a:ext cx="8503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 Thai</a:t>
            </a:r>
            <a:endParaRPr lang="en-US" sz="550" dirty="0"/>
          </a:p>
        </p:txBody>
      </p:sp>
      <p:sp>
        <p:nvSpPr>
          <p:cNvPr id="116" name="Text 114"/>
          <p:cNvSpPr/>
          <p:nvPr/>
        </p:nvSpPr>
        <p:spPr>
          <a:xfrm>
            <a:off x="7781544" y="3520440"/>
            <a:ext cx="850392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 seen 8 days ago</a:t>
            </a:r>
            <a:endParaRPr lang="en-US" sz="400" dirty="0"/>
          </a:p>
        </p:txBody>
      </p:sp>
      <p:sp>
        <p:nvSpPr>
          <p:cNvPr id="117" name="Shape 115"/>
          <p:cNvSpPr/>
          <p:nvPr/>
        </p:nvSpPr>
        <p:spPr>
          <a:xfrm>
            <a:off x="7488936" y="3712464"/>
            <a:ext cx="1161288" cy="256032"/>
          </a:xfrm>
          <a:prstGeom prst="roundRect">
            <a:avLst>
              <a:gd name="adj" fmla="val 10714"/>
            </a:avLst>
          </a:prstGeom>
          <a:solidFill>
            <a:srgbClr val="FFF7ED"/>
          </a:solidFill>
          <a:ln w="3810">
            <a:solidFill>
              <a:srgbClr val="FED7AA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7534656" y="3730752"/>
            <a:ext cx="9418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50" b="1" dirty="0">
                <a:solidFill>
                  <a:srgbClr val="FF8C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voice call</a:t>
            </a:r>
            <a:endParaRPr lang="en-US" sz="450" dirty="0"/>
          </a:p>
        </p:txBody>
      </p:sp>
      <p:sp>
        <p:nvSpPr>
          <p:cNvPr id="119" name="Shape 117"/>
          <p:cNvSpPr/>
          <p:nvPr/>
        </p:nvSpPr>
        <p:spPr>
          <a:xfrm>
            <a:off x="8266176" y="3749040"/>
            <a:ext cx="365760" cy="182880"/>
          </a:xfrm>
          <a:prstGeom prst="roundRect">
            <a:avLst>
              <a:gd name="adj" fmla="val 50000"/>
            </a:avLst>
          </a:prstGeom>
          <a:solidFill>
            <a:srgbClr val="FF8C42"/>
          </a:solidFill>
          <a:ln w="12700">
            <a:solidFill>
              <a:srgbClr val="FF8C42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8266176" y="374904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 back</a:t>
            </a:r>
            <a:endParaRPr lang="en-US" sz="400" dirty="0"/>
          </a:p>
        </p:txBody>
      </p:sp>
      <p:sp>
        <p:nvSpPr>
          <p:cNvPr id="121" name="Shape 119"/>
          <p:cNvSpPr/>
          <p:nvPr/>
        </p:nvSpPr>
        <p:spPr>
          <a:xfrm>
            <a:off x="8266176" y="4059936"/>
            <a:ext cx="384048" cy="21945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F87171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8266176" y="405993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answer</a:t>
            </a:r>
            <a:endParaRPr lang="en-US" sz="400" dirty="0"/>
          </a:p>
        </p:txBody>
      </p:sp>
      <p:sp>
        <p:nvSpPr>
          <p:cNvPr id="123" name="Text 121"/>
          <p:cNvSpPr/>
          <p:nvPr/>
        </p:nvSpPr>
        <p:spPr>
          <a:xfrm>
            <a:off x="8266176" y="4151376"/>
            <a:ext cx="38404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5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 29</a:t>
            </a:r>
            <a:endParaRPr lang="en-US" sz="350" dirty="0"/>
          </a:p>
        </p:txBody>
      </p:sp>
      <p:sp>
        <p:nvSpPr>
          <p:cNvPr id="124" name="Text 122"/>
          <p:cNvSpPr/>
          <p:nvPr/>
        </p:nvSpPr>
        <p:spPr>
          <a:xfrm>
            <a:off x="5852160" y="1417320"/>
            <a:ext cx="1417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</a:t>
            </a:r>
            <a:endParaRPr lang="en-US" sz="700" dirty="0"/>
          </a:p>
        </p:txBody>
      </p:sp>
      <p:sp>
        <p:nvSpPr>
          <p:cNvPr id="125" name="Text 123"/>
          <p:cNvSpPr/>
          <p:nvPr/>
        </p:nvSpPr>
        <p:spPr>
          <a:xfrm>
            <a:off x="7360920" y="1417320"/>
            <a:ext cx="1417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700" dirty="0"/>
          </a:p>
        </p:txBody>
      </p:sp>
      <p:sp>
        <p:nvSpPr>
          <p:cNvPr id="126" name="Text 124"/>
          <p:cNvSpPr/>
          <p:nvPr/>
        </p:nvSpPr>
        <p:spPr>
          <a:xfrm>
            <a:off x="5852160" y="4361688"/>
            <a:ext cx="1417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 Map</a:t>
            </a:r>
            <a:endParaRPr lang="en-US" sz="700" dirty="0"/>
          </a:p>
        </p:txBody>
      </p:sp>
      <p:sp>
        <p:nvSpPr>
          <p:cNvPr id="127" name="Text 125"/>
          <p:cNvSpPr/>
          <p:nvPr/>
        </p:nvSpPr>
        <p:spPr>
          <a:xfrm>
            <a:off x="7360920" y="4361688"/>
            <a:ext cx="1417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F12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detail</a:t>
            </a:r>
            <a:endParaRPr lang="en-US" sz="700" dirty="0"/>
          </a:p>
        </p:txBody>
      </p:sp>
      <p:sp>
        <p:nvSpPr>
          <p:cNvPr id="128" name="Text 126"/>
          <p:cNvSpPr/>
          <p:nvPr/>
        </p:nvSpPr>
        <p:spPr>
          <a:xfrm>
            <a:off x="365760" y="4864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ZIVO  •  Super-App Platform</a:t>
            </a:r>
            <a:endParaRPr lang="en-US" sz="900" dirty="0"/>
          </a:p>
        </p:txBody>
      </p:sp>
      <p:sp>
        <p:nvSpPr>
          <p:cNvPr id="129" name="Text 127"/>
          <p:cNvSpPr/>
          <p:nvPr/>
        </p:nvSpPr>
        <p:spPr>
          <a:xfrm>
            <a:off x="7955280" y="4864608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7B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/ 26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ZIVO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ZIVO — Super-App Platform</dc:title>
  <dc:subject>PptxGenJS Presentation</dc:subject>
  <dc:creator>ZIVO</dc:creator>
  <cp:lastModifiedBy>ZIVO</cp:lastModifiedBy>
  <cp:revision>1</cp:revision>
  <dcterms:created xsi:type="dcterms:W3CDTF">2026-05-04T18:33:02Z</dcterms:created>
  <dcterms:modified xsi:type="dcterms:W3CDTF">2026-05-04T18:33:02Z</dcterms:modified>
</cp:coreProperties>
</file>